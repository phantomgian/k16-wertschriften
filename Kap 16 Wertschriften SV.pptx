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4"/>
  </p:sldMasterIdLst>
  <p:notesMasterIdLst>
    <p:notesMasterId r:id="rId25"/>
  </p:notesMasterIdLst>
  <p:sldIdLst>
    <p:sldId id="429" r:id="rId5"/>
    <p:sldId id="430" r:id="rId6"/>
    <p:sldId id="1077" r:id="rId7"/>
    <p:sldId id="926" r:id="rId8"/>
    <p:sldId id="1076" r:id="rId9"/>
    <p:sldId id="1016" r:id="rId10"/>
    <p:sldId id="1075" r:id="rId11"/>
    <p:sldId id="1074" r:id="rId12"/>
    <p:sldId id="1082" r:id="rId13"/>
    <p:sldId id="1084" r:id="rId14"/>
    <p:sldId id="1085" r:id="rId15"/>
    <p:sldId id="1087" r:id="rId16"/>
    <p:sldId id="1086" r:id="rId17"/>
    <p:sldId id="1081" r:id="rId18"/>
    <p:sldId id="1083" r:id="rId19"/>
    <p:sldId id="1093" r:id="rId20"/>
    <p:sldId id="1094" r:id="rId21"/>
    <p:sldId id="1100" r:id="rId22"/>
    <p:sldId id="1097" r:id="rId23"/>
    <p:sldId id="1011" r:id="rId24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8EA"/>
    <a:srgbClr val="E24014"/>
    <a:srgbClr val="4D1434"/>
    <a:srgbClr val="D0CCCD"/>
    <a:srgbClr val="C13711"/>
    <a:srgbClr val="D73D13"/>
    <a:srgbClr val="000000"/>
    <a:srgbClr val="ED5B33"/>
    <a:srgbClr val="CBDFF1"/>
    <a:srgbClr val="E7F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A41AC6-6846-4522-AFCF-F6773D0D5E4D}" v="2" dt="2026-09-18T08:57:33.4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63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ner,  Sara (BZZ)" userId="5c96904c-93e7-4663-ac55-0080cdc2ccf3" providerId="ADAL" clId="{0A7AB0CF-BD67-44A9-B6B1-7B48F1857C16}"/>
    <pc:docChg chg="modSld">
      <pc:chgData name="Lyner,  Sara (BZZ)" userId="5c96904c-93e7-4663-ac55-0080cdc2ccf3" providerId="ADAL" clId="{0A7AB0CF-BD67-44A9-B6B1-7B48F1857C16}" dt="2026-09-18T08:57:33.495" v="1" actId="20577"/>
      <pc:docMkLst>
        <pc:docMk/>
      </pc:docMkLst>
      <pc:sldChg chg="modSp">
        <pc:chgData name="Lyner,  Sara (BZZ)" userId="5c96904c-93e7-4663-ac55-0080cdc2ccf3" providerId="ADAL" clId="{0A7AB0CF-BD67-44A9-B6B1-7B48F1857C16}" dt="2026-09-18T08:57:33.495" v="1" actId="20577"/>
        <pc:sldMkLst>
          <pc:docMk/>
          <pc:sldMk cId="3274346706" sldId="1094"/>
        </pc:sldMkLst>
        <pc:spChg chg="mod">
          <ac:chgData name="Lyner,  Sara (BZZ)" userId="5c96904c-93e7-4663-ac55-0080cdc2ccf3" providerId="ADAL" clId="{0A7AB0CF-BD67-44A9-B6B1-7B48F1857C16}" dt="2026-09-18T08:57:33.495" v="1" actId="20577"/>
          <ac:spMkLst>
            <pc:docMk/>
            <pc:sldMk cId="3274346706" sldId="1094"/>
            <ac:spMk id="33" creationId="{62D3E3DF-CD7F-F3BD-51C2-E4FDC4212C0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C885B5-0C47-447E-BFF0-69A6193051BC}" type="doc">
      <dgm:prSet loTypeId="urn:microsoft.com/office/officeart/2005/8/layout/orgChart1" loCatId="hierarchy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de-CH"/>
        </a:p>
      </dgm:t>
    </dgm:pt>
    <dgm:pt modelId="{C3C9B7B0-8996-4E2A-B8D0-6CD3C5EA73B8}">
      <dgm:prSet phldrT="[Text]" phldr="0"/>
      <dgm:spPr/>
      <dgm:t>
        <a:bodyPr/>
        <a:lstStyle/>
        <a:p>
          <a:r>
            <a:rPr lang="de-DE"/>
            <a:t>Wertschriften</a:t>
          </a:r>
          <a:endParaRPr lang="de-CH"/>
        </a:p>
      </dgm:t>
    </dgm:pt>
    <dgm:pt modelId="{04E014CF-A769-48D3-B6F0-7CEFB5112D85}" type="parTrans" cxnId="{AAA1FC1A-4550-4A4D-B833-DCA495A43E32}">
      <dgm:prSet/>
      <dgm:spPr/>
      <dgm:t>
        <a:bodyPr/>
        <a:lstStyle/>
        <a:p>
          <a:endParaRPr lang="de-CH"/>
        </a:p>
      </dgm:t>
    </dgm:pt>
    <dgm:pt modelId="{2E7863C5-5910-4E21-BC8F-45E2513B4553}" type="sibTrans" cxnId="{AAA1FC1A-4550-4A4D-B833-DCA495A43E32}">
      <dgm:prSet/>
      <dgm:spPr/>
      <dgm:t>
        <a:bodyPr/>
        <a:lstStyle/>
        <a:p>
          <a:endParaRPr lang="de-CH"/>
        </a:p>
      </dgm:t>
    </dgm:pt>
    <dgm:pt modelId="{841BD391-0F34-4243-848E-8C43282D34C8}">
      <dgm:prSet phldrT="[Text]" phldr="0"/>
      <dgm:spPr/>
      <dgm:t>
        <a:bodyPr/>
        <a:lstStyle/>
        <a:p>
          <a:r>
            <a:rPr lang="de-DE" dirty="0"/>
            <a:t>Aktien</a:t>
          </a:r>
          <a:endParaRPr lang="de-CH" dirty="0"/>
        </a:p>
      </dgm:t>
    </dgm:pt>
    <dgm:pt modelId="{0F26C846-AABF-46DF-A4BA-59ED9A8D2F93}" type="parTrans" cxnId="{B66B17A5-B45E-4AA6-8510-A015CB12BED5}">
      <dgm:prSet/>
      <dgm:spPr/>
      <dgm:t>
        <a:bodyPr/>
        <a:lstStyle/>
        <a:p>
          <a:endParaRPr lang="de-CH"/>
        </a:p>
      </dgm:t>
    </dgm:pt>
    <dgm:pt modelId="{9D710CF0-3854-4A04-8585-EF988693C1D9}" type="sibTrans" cxnId="{B66B17A5-B45E-4AA6-8510-A015CB12BED5}">
      <dgm:prSet/>
      <dgm:spPr/>
      <dgm:t>
        <a:bodyPr/>
        <a:lstStyle/>
        <a:p>
          <a:endParaRPr lang="de-CH"/>
        </a:p>
      </dgm:t>
    </dgm:pt>
    <dgm:pt modelId="{B8F93CCF-2313-44F3-A7DA-FB96421B31E8}">
      <dgm:prSet phldrT="[Text]" phldr="0"/>
      <dgm:spPr/>
      <dgm:t>
        <a:bodyPr/>
        <a:lstStyle/>
        <a:p>
          <a:r>
            <a:rPr lang="de-DE"/>
            <a:t>Obligationen</a:t>
          </a:r>
          <a:endParaRPr lang="de-CH" dirty="0"/>
        </a:p>
      </dgm:t>
    </dgm:pt>
    <dgm:pt modelId="{8A058B71-2E9F-4D02-A38F-FA4DB77558EA}" type="parTrans" cxnId="{6258A49C-3C85-4B17-A705-2AC80D2E0DA5}">
      <dgm:prSet/>
      <dgm:spPr/>
      <dgm:t>
        <a:bodyPr/>
        <a:lstStyle/>
        <a:p>
          <a:endParaRPr lang="de-CH"/>
        </a:p>
      </dgm:t>
    </dgm:pt>
    <dgm:pt modelId="{B0105C83-72BF-43C9-A59A-9B868749DD28}" type="sibTrans" cxnId="{6258A49C-3C85-4B17-A705-2AC80D2E0DA5}">
      <dgm:prSet/>
      <dgm:spPr/>
      <dgm:t>
        <a:bodyPr/>
        <a:lstStyle/>
        <a:p>
          <a:endParaRPr lang="de-CH"/>
        </a:p>
      </dgm:t>
    </dgm:pt>
    <dgm:pt modelId="{DE7E599B-422C-47E3-BFC7-0F781514EE4F}" type="pres">
      <dgm:prSet presAssocID="{17C885B5-0C47-447E-BFF0-69A6193051B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AA93386-4079-4263-BA6A-6BD1D72D5C2A}" type="pres">
      <dgm:prSet presAssocID="{C3C9B7B0-8996-4E2A-B8D0-6CD3C5EA73B8}" presName="hierRoot1" presStyleCnt="0">
        <dgm:presLayoutVars>
          <dgm:hierBranch val="init"/>
        </dgm:presLayoutVars>
      </dgm:prSet>
      <dgm:spPr/>
    </dgm:pt>
    <dgm:pt modelId="{1801D885-A969-4A5A-8232-4F4AFB0FE841}" type="pres">
      <dgm:prSet presAssocID="{C3C9B7B0-8996-4E2A-B8D0-6CD3C5EA73B8}" presName="rootComposite1" presStyleCnt="0"/>
      <dgm:spPr/>
    </dgm:pt>
    <dgm:pt modelId="{ED10AD7B-2262-4F6C-B51F-391D0C7C6630}" type="pres">
      <dgm:prSet presAssocID="{C3C9B7B0-8996-4E2A-B8D0-6CD3C5EA73B8}" presName="rootText1" presStyleLbl="node0" presStyleIdx="0" presStyleCnt="1">
        <dgm:presLayoutVars>
          <dgm:chPref val="3"/>
        </dgm:presLayoutVars>
      </dgm:prSet>
      <dgm:spPr/>
    </dgm:pt>
    <dgm:pt modelId="{25F0620F-19C4-4251-B9CC-CCFCB287EC02}" type="pres">
      <dgm:prSet presAssocID="{C3C9B7B0-8996-4E2A-B8D0-6CD3C5EA73B8}" presName="rootConnector1" presStyleLbl="node1" presStyleIdx="0" presStyleCnt="0"/>
      <dgm:spPr/>
    </dgm:pt>
    <dgm:pt modelId="{00233E7A-3CC8-496E-9E98-940C83B31425}" type="pres">
      <dgm:prSet presAssocID="{C3C9B7B0-8996-4E2A-B8D0-6CD3C5EA73B8}" presName="hierChild2" presStyleCnt="0"/>
      <dgm:spPr/>
    </dgm:pt>
    <dgm:pt modelId="{3DD3F1D0-F01E-46FC-A019-DFA6E6FB9209}" type="pres">
      <dgm:prSet presAssocID="{0F26C846-AABF-46DF-A4BA-59ED9A8D2F93}" presName="Name37" presStyleLbl="parChTrans1D2" presStyleIdx="0" presStyleCnt="2"/>
      <dgm:spPr/>
    </dgm:pt>
    <dgm:pt modelId="{9904F697-6558-4DDD-9214-B4A7896B8223}" type="pres">
      <dgm:prSet presAssocID="{841BD391-0F34-4243-848E-8C43282D34C8}" presName="hierRoot2" presStyleCnt="0">
        <dgm:presLayoutVars>
          <dgm:hierBranch val="init"/>
        </dgm:presLayoutVars>
      </dgm:prSet>
      <dgm:spPr/>
    </dgm:pt>
    <dgm:pt modelId="{3F4620D0-8DA6-49C4-A3B1-BF79B3646481}" type="pres">
      <dgm:prSet presAssocID="{841BD391-0F34-4243-848E-8C43282D34C8}" presName="rootComposite" presStyleCnt="0"/>
      <dgm:spPr/>
    </dgm:pt>
    <dgm:pt modelId="{1EF84E59-ED31-4FE6-9222-914C7A327C6C}" type="pres">
      <dgm:prSet presAssocID="{841BD391-0F34-4243-848E-8C43282D34C8}" presName="rootText" presStyleLbl="node2" presStyleIdx="0" presStyleCnt="2">
        <dgm:presLayoutVars>
          <dgm:chPref val="3"/>
        </dgm:presLayoutVars>
      </dgm:prSet>
      <dgm:spPr/>
    </dgm:pt>
    <dgm:pt modelId="{EAF1A3B5-8081-4C92-A0F1-7B217658E7D3}" type="pres">
      <dgm:prSet presAssocID="{841BD391-0F34-4243-848E-8C43282D34C8}" presName="rootConnector" presStyleLbl="node2" presStyleIdx="0" presStyleCnt="2"/>
      <dgm:spPr/>
    </dgm:pt>
    <dgm:pt modelId="{80C4B097-9E45-42A0-928A-951615B9ED4B}" type="pres">
      <dgm:prSet presAssocID="{841BD391-0F34-4243-848E-8C43282D34C8}" presName="hierChild4" presStyleCnt="0"/>
      <dgm:spPr/>
    </dgm:pt>
    <dgm:pt modelId="{B1E1C9BC-8778-4B2C-BB09-E38D94EA9EA1}" type="pres">
      <dgm:prSet presAssocID="{841BD391-0F34-4243-848E-8C43282D34C8}" presName="hierChild5" presStyleCnt="0"/>
      <dgm:spPr/>
    </dgm:pt>
    <dgm:pt modelId="{282FB101-C0C1-4D07-B16D-D8E848D608EA}" type="pres">
      <dgm:prSet presAssocID="{8A058B71-2E9F-4D02-A38F-FA4DB77558EA}" presName="Name37" presStyleLbl="parChTrans1D2" presStyleIdx="1" presStyleCnt="2"/>
      <dgm:spPr/>
    </dgm:pt>
    <dgm:pt modelId="{AEBD6DA1-C339-4071-9AD1-F0DB582644DA}" type="pres">
      <dgm:prSet presAssocID="{B8F93CCF-2313-44F3-A7DA-FB96421B31E8}" presName="hierRoot2" presStyleCnt="0">
        <dgm:presLayoutVars>
          <dgm:hierBranch val="init"/>
        </dgm:presLayoutVars>
      </dgm:prSet>
      <dgm:spPr/>
    </dgm:pt>
    <dgm:pt modelId="{25BD28FF-393F-4B65-90A4-CD3BF7FDC61C}" type="pres">
      <dgm:prSet presAssocID="{B8F93CCF-2313-44F3-A7DA-FB96421B31E8}" presName="rootComposite" presStyleCnt="0"/>
      <dgm:spPr/>
    </dgm:pt>
    <dgm:pt modelId="{AD105107-09A6-477E-B860-F79FE895D8BC}" type="pres">
      <dgm:prSet presAssocID="{B8F93CCF-2313-44F3-A7DA-FB96421B31E8}" presName="rootText" presStyleLbl="node2" presStyleIdx="1" presStyleCnt="2">
        <dgm:presLayoutVars>
          <dgm:chPref val="3"/>
        </dgm:presLayoutVars>
      </dgm:prSet>
      <dgm:spPr/>
    </dgm:pt>
    <dgm:pt modelId="{9C1D44E4-4C39-4DFC-801E-8354C36FCB07}" type="pres">
      <dgm:prSet presAssocID="{B8F93CCF-2313-44F3-A7DA-FB96421B31E8}" presName="rootConnector" presStyleLbl="node2" presStyleIdx="1" presStyleCnt="2"/>
      <dgm:spPr/>
    </dgm:pt>
    <dgm:pt modelId="{AE3FB724-FA00-49B4-AAF7-C19C0BE66AA8}" type="pres">
      <dgm:prSet presAssocID="{B8F93CCF-2313-44F3-A7DA-FB96421B31E8}" presName="hierChild4" presStyleCnt="0"/>
      <dgm:spPr/>
    </dgm:pt>
    <dgm:pt modelId="{AAFEE922-D3A0-4333-B551-D6786ADEABFD}" type="pres">
      <dgm:prSet presAssocID="{B8F93CCF-2313-44F3-A7DA-FB96421B31E8}" presName="hierChild5" presStyleCnt="0"/>
      <dgm:spPr/>
    </dgm:pt>
    <dgm:pt modelId="{E55859A1-5A4B-4FB6-9D70-593D2AD31FA0}" type="pres">
      <dgm:prSet presAssocID="{C3C9B7B0-8996-4E2A-B8D0-6CD3C5EA73B8}" presName="hierChild3" presStyleCnt="0"/>
      <dgm:spPr/>
    </dgm:pt>
  </dgm:ptLst>
  <dgm:cxnLst>
    <dgm:cxn modelId="{60703811-EE4D-4CD6-A3C3-F75CB4301538}" type="presOf" srcId="{0F26C846-AABF-46DF-A4BA-59ED9A8D2F93}" destId="{3DD3F1D0-F01E-46FC-A019-DFA6E6FB9209}" srcOrd="0" destOrd="0" presId="urn:microsoft.com/office/officeart/2005/8/layout/orgChart1"/>
    <dgm:cxn modelId="{AAA1FC1A-4550-4A4D-B833-DCA495A43E32}" srcId="{17C885B5-0C47-447E-BFF0-69A6193051BC}" destId="{C3C9B7B0-8996-4E2A-B8D0-6CD3C5EA73B8}" srcOrd="0" destOrd="0" parTransId="{04E014CF-A769-48D3-B6F0-7CEFB5112D85}" sibTransId="{2E7863C5-5910-4E21-BC8F-45E2513B4553}"/>
    <dgm:cxn modelId="{30FC481E-14C4-4B90-BE49-510418C7B3C1}" type="presOf" srcId="{8A058B71-2E9F-4D02-A38F-FA4DB77558EA}" destId="{282FB101-C0C1-4D07-B16D-D8E848D608EA}" srcOrd="0" destOrd="0" presId="urn:microsoft.com/office/officeart/2005/8/layout/orgChart1"/>
    <dgm:cxn modelId="{8D709822-E8F7-420E-A082-27AF6CCE439C}" type="presOf" srcId="{C3C9B7B0-8996-4E2A-B8D0-6CD3C5EA73B8}" destId="{25F0620F-19C4-4251-B9CC-CCFCB287EC02}" srcOrd="1" destOrd="0" presId="urn:microsoft.com/office/officeart/2005/8/layout/orgChart1"/>
    <dgm:cxn modelId="{7E03A522-53EE-4F6C-B89E-C3D68D506AC2}" type="presOf" srcId="{C3C9B7B0-8996-4E2A-B8D0-6CD3C5EA73B8}" destId="{ED10AD7B-2262-4F6C-B51F-391D0C7C6630}" srcOrd="0" destOrd="0" presId="urn:microsoft.com/office/officeart/2005/8/layout/orgChart1"/>
    <dgm:cxn modelId="{64723428-F814-4C16-ACC3-F2B0A9CCB361}" type="presOf" srcId="{B8F93CCF-2313-44F3-A7DA-FB96421B31E8}" destId="{AD105107-09A6-477E-B860-F79FE895D8BC}" srcOrd="0" destOrd="0" presId="urn:microsoft.com/office/officeart/2005/8/layout/orgChart1"/>
    <dgm:cxn modelId="{220A283A-DC56-4743-A334-D1148B1EAC5E}" type="presOf" srcId="{17C885B5-0C47-447E-BFF0-69A6193051BC}" destId="{DE7E599B-422C-47E3-BFC7-0F781514EE4F}" srcOrd="0" destOrd="0" presId="urn:microsoft.com/office/officeart/2005/8/layout/orgChart1"/>
    <dgm:cxn modelId="{9ED29E6B-AC59-422A-A4D9-4332407C0AC4}" type="presOf" srcId="{841BD391-0F34-4243-848E-8C43282D34C8}" destId="{1EF84E59-ED31-4FE6-9222-914C7A327C6C}" srcOrd="0" destOrd="0" presId="urn:microsoft.com/office/officeart/2005/8/layout/orgChart1"/>
    <dgm:cxn modelId="{6258A49C-3C85-4B17-A705-2AC80D2E0DA5}" srcId="{C3C9B7B0-8996-4E2A-B8D0-6CD3C5EA73B8}" destId="{B8F93CCF-2313-44F3-A7DA-FB96421B31E8}" srcOrd="1" destOrd="0" parTransId="{8A058B71-2E9F-4D02-A38F-FA4DB77558EA}" sibTransId="{B0105C83-72BF-43C9-A59A-9B868749DD28}"/>
    <dgm:cxn modelId="{B66B17A5-B45E-4AA6-8510-A015CB12BED5}" srcId="{C3C9B7B0-8996-4E2A-B8D0-6CD3C5EA73B8}" destId="{841BD391-0F34-4243-848E-8C43282D34C8}" srcOrd="0" destOrd="0" parTransId="{0F26C846-AABF-46DF-A4BA-59ED9A8D2F93}" sibTransId="{9D710CF0-3854-4A04-8585-EF988693C1D9}"/>
    <dgm:cxn modelId="{23DB6AB0-142F-49A7-9887-C1A929FE3E51}" type="presOf" srcId="{841BD391-0F34-4243-848E-8C43282D34C8}" destId="{EAF1A3B5-8081-4C92-A0F1-7B217658E7D3}" srcOrd="1" destOrd="0" presId="urn:microsoft.com/office/officeart/2005/8/layout/orgChart1"/>
    <dgm:cxn modelId="{3608C9FB-524C-43CC-8860-8C47629E6AD5}" type="presOf" srcId="{B8F93CCF-2313-44F3-A7DA-FB96421B31E8}" destId="{9C1D44E4-4C39-4DFC-801E-8354C36FCB07}" srcOrd="1" destOrd="0" presId="urn:microsoft.com/office/officeart/2005/8/layout/orgChart1"/>
    <dgm:cxn modelId="{18E0B64C-BB9A-4761-A487-898499EA8E37}" type="presParOf" srcId="{DE7E599B-422C-47E3-BFC7-0F781514EE4F}" destId="{8AA93386-4079-4263-BA6A-6BD1D72D5C2A}" srcOrd="0" destOrd="0" presId="urn:microsoft.com/office/officeart/2005/8/layout/orgChart1"/>
    <dgm:cxn modelId="{A6768C79-A9AD-4BC3-B32E-8A0D765AD302}" type="presParOf" srcId="{8AA93386-4079-4263-BA6A-6BD1D72D5C2A}" destId="{1801D885-A969-4A5A-8232-4F4AFB0FE841}" srcOrd="0" destOrd="0" presId="urn:microsoft.com/office/officeart/2005/8/layout/orgChart1"/>
    <dgm:cxn modelId="{39932622-7AF4-42E1-AD6D-CDC13C3818CE}" type="presParOf" srcId="{1801D885-A969-4A5A-8232-4F4AFB0FE841}" destId="{ED10AD7B-2262-4F6C-B51F-391D0C7C6630}" srcOrd="0" destOrd="0" presId="urn:microsoft.com/office/officeart/2005/8/layout/orgChart1"/>
    <dgm:cxn modelId="{4D184C0F-7A66-44B7-9789-812A7F2354D6}" type="presParOf" srcId="{1801D885-A969-4A5A-8232-4F4AFB0FE841}" destId="{25F0620F-19C4-4251-B9CC-CCFCB287EC02}" srcOrd="1" destOrd="0" presId="urn:microsoft.com/office/officeart/2005/8/layout/orgChart1"/>
    <dgm:cxn modelId="{ABB9D065-C569-4B52-853B-B78DA91CB3C4}" type="presParOf" srcId="{8AA93386-4079-4263-BA6A-6BD1D72D5C2A}" destId="{00233E7A-3CC8-496E-9E98-940C83B31425}" srcOrd="1" destOrd="0" presId="urn:microsoft.com/office/officeart/2005/8/layout/orgChart1"/>
    <dgm:cxn modelId="{155F4AD6-B927-4405-8DCE-420B55B9D8E9}" type="presParOf" srcId="{00233E7A-3CC8-496E-9E98-940C83B31425}" destId="{3DD3F1D0-F01E-46FC-A019-DFA6E6FB9209}" srcOrd="0" destOrd="0" presId="urn:microsoft.com/office/officeart/2005/8/layout/orgChart1"/>
    <dgm:cxn modelId="{D145214B-24FC-46EF-A0A1-2A2B8223312C}" type="presParOf" srcId="{00233E7A-3CC8-496E-9E98-940C83B31425}" destId="{9904F697-6558-4DDD-9214-B4A7896B8223}" srcOrd="1" destOrd="0" presId="urn:microsoft.com/office/officeart/2005/8/layout/orgChart1"/>
    <dgm:cxn modelId="{8E87B4BB-1007-4D65-9AE1-3999CD455056}" type="presParOf" srcId="{9904F697-6558-4DDD-9214-B4A7896B8223}" destId="{3F4620D0-8DA6-49C4-A3B1-BF79B3646481}" srcOrd="0" destOrd="0" presId="urn:microsoft.com/office/officeart/2005/8/layout/orgChart1"/>
    <dgm:cxn modelId="{1182D4DB-E716-4A57-A7D8-ED4085EA4AC1}" type="presParOf" srcId="{3F4620D0-8DA6-49C4-A3B1-BF79B3646481}" destId="{1EF84E59-ED31-4FE6-9222-914C7A327C6C}" srcOrd="0" destOrd="0" presId="urn:microsoft.com/office/officeart/2005/8/layout/orgChart1"/>
    <dgm:cxn modelId="{967BCD33-ED41-45E5-A381-22A3DEA54A3E}" type="presParOf" srcId="{3F4620D0-8DA6-49C4-A3B1-BF79B3646481}" destId="{EAF1A3B5-8081-4C92-A0F1-7B217658E7D3}" srcOrd="1" destOrd="0" presId="urn:microsoft.com/office/officeart/2005/8/layout/orgChart1"/>
    <dgm:cxn modelId="{3B7CA8E7-CE25-4E92-89BA-F97B10E0FB91}" type="presParOf" srcId="{9904F697-6558-4DDD-9214-B4A7896B8223}" destId="{80C4B097-9E45-42A0-928A-951615B9ED4B}" srcOrd="1" destOrd="0" presId="urn:microsoft.com/office/officeart/2005/8/layout/orgChart1"/>
    <dgm:cxn modelId="{B3502A26-3FA2-4F17-AA55-076C3F24CB80}" type="presParOf" srcId="{9904F697-6558-4DDD-9214-B4A7896B8223}" destId="{B1E1C9BC-8778-4B2C-BB09-E38D94EA9EA1}" srcOrd="2" destOrd="0" presId="urn:microsoft.com/office/officeart/2005/8/layout/orgChart1"/>
    <dgm:cxn modelId="{A183DDDA-2497-4662-B6CE-62C8E0E2EAFD}" type="presParOf" srcId="{00233E7A-3CC8-496E-9E98-940C83B31425}" destId="{282FB101-C0C1-4D07-B16D-D8E848D608EA}" srcOrd="2" destOrd="0" presId="urn:microsoft.com/office/officeart/2005/8/layout/orgChart1"/>
    <dgm:cxn modelId="{7EA98A9C-B403-47E2-8BB6-38D2D85446D3}" type="presParOf" srcId="{00233E7A-3CC8-496E-9E98-940C83B31425}" destId="{AEBD6DA1-C339-4071-9AD1-F0DB582644DA}" srcOrd="3" destOrd="0" presId="urn:microsoft.com/office/officeart/2005/8/layout/orgChart1"/>
    <dgm:cxn modelId="{06CB3C3D-2463-451B-9E9F-576B94533AEB}" type="presParOf" srcId="{AEBD6DA1-C339-4071-9AD1-F0DB582644DA}" destId="{25BD28FF-393F-4B65-90A4-CD3BF7FDC61C}" srcOrd="0" destOrd="0" presId="urn:microsoft.com/office/officeart/2005/8/layout/orgChart1"/>
    <dgm:cxn modelId="{9D7C6B15-E78A-4F9F-AB68-EE1FE7EA7342}" type="presParOf" srcId="{25BD28FF-393F-4B65-90A4-CD3BF7FDC61C}" destId="{AD105107-09A6-477E-B860-F79FE895D8BC}" srcOrd="0" destOrd="0" presId="urn:microsoft.com/office/officeart/2005/8/layout/orgChart1"/>
    <dgm:cxn modelId="{33220754-975C-4375-8485-C7C56B5BADE2}" type="presParOf" srcId="{25BD28FF-393F-4B65-90A4-CD3BF7FDC61C}" destId="{9C1D44E4-4C39-4DFC-801E-8354C36FCB07}" srcOrd="1" destOrd="0" presId="urn:microsoft.com/office/officeart/2005/8/layout/orgChart1"/>
    <dgm:cxn modelId="{A7F79105-91BE-423C-92CB-C1C08ED02BCE}" type="presParOf" srcId="{AEBD6DA1-C339-4071-9AD1-F0DB582644DA}" destId="{AE3FB724-FA00-49B4-AAF7-C19C0BE66AA8}" srcOrd="1" destOrd="0" presId="urn:microsoft.com/office/officeart/2005/8/layout/orgChart1"/>
    <dgm:cxn modelId="{15D70C98-C9C5-4EA1-9E24-F8F8D488E0FA}" type="presParOf" srcId="{AEBD6DA1-C339-4071-9AD1-F0DB582644DA}" destId="{AAFEE922-D3A0-4333-B551-D6786ADEABFD}" srcOrd="2" destOrd="0" presId="urn:microsoft.com/office/officeart/2005/8/layout/orgChart1"/>
    <dgm:cxn modelId="{ECA1B78F-C8ED-4867-BBC3-D1A9749E203D}" type="presParOf" srcId="{8AA93386-4079-4263-BA6A-6BD1D72D5C2A}" destId="{E55859A1-5A4B-4FB6-9D70-593D2AD31FA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2FB101-C0C1-4D07-B16D-D8E848D608EA}">
      <dsp:nvSpPr>
        <dsp:cNvPr id="0" name=""/>
        <dsp:cNvSpPr/>
      </dsp:nvSpPr>
      <dsp:spPr>
        <a:xfrm>
          <a:off x="4064000" y="2323347"/>
          <a:ext cx="2224013" cy="771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5985"/>
              </a:lnTo>
              <a:lnTo>
                <a:pt x="2224013" y="385985"/>
              </a:lnTo>
              <a:lnTo>
                <a:pt x="2224013" y="771971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D3F1D0-F01E-46FC-A019-DFA6E6FB9209}">
      <dsp:nvSpPr>
        <dsp:cNvPr id="0" name=""/>
        <dsp:cNvSpPr/>
      </dsp:nvSpPr>
      <dsp:spPr>
        <a:xfrm>
          <a:off x="1839986" y="2323347"/>
          <a:ext cx="2224013" cy="771971"/>
        </a:xfrm>
        <a:custGeom>
          <a:avLst/>
          <a:gdLst/>
          <a:ahLst/>
          <a:cxnLst/>
          <a:rect l="0" t="0" r="0" b="0"/>
          <a:pathLst>
            <a:path>
              <a:moveTo>
                <a:pt x="2224013" y="0"/>
              </a:moveTo>
              <a:lnTo>
                <a:pt x="2224013" y="385985"/>
              </a:lnTo>
              <a:lnTo>
                <a:pt x="0" y="385985"/>
              </a:lnTo>
              <a:lnTo>
                <a:pt x="0" y="771971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0AD7B-2262-4F6C-B51F-391D0C7C6630}">
      <dsp:nvSpPr>
        <dsp:cNvPr id="0" name=""/>
        <dsp:cNvSpPr/>
      </dsp:nvSpPr>
      <dsp:spPr>
        <a:xfrm>
          <a:off x="2225972" y="485320"/>
          <a:ext cx="3676054" cy="1838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5000" kern="1200"/>
            <a:t>Wertschriften</a:t>
          </a:r>
          <a:endParaRPr lang="de-CH" sz="5000" kern="1200"/>
        </a:p>
      </dsp:txBody>
      <dsp:txXfrm>
        <a:off x="2225972" y="485320"/>
        <a:ext cx="3676054" cy="1838027"/>
      </dsp:txXfrm>
    </dsp:sp>
    <dsp:sp modelId="{1EF84E59-ED31-4FE6-9222-914C7A327C6C}">
      <dsp:nvSpPr>
        <dsp:cNvPr id="0" name=""/>
        <dsp:cNvSpPr/>
      </dsp:nvSpPr>
      <dsp:spPr>
        <a:xfrm>
          <a:off x="1959" y="3095319"/>
          <a:ext cx="3676054" cy="1838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5000" kern="1200" dirty="0"/>
            <a:t>Aktien</a:t>
          </a:r>
          <a:endParaRPr lang="de-CH" sz="5000" kern="1200" dirty="0"/>
        </a:p>
      </dsp:txBody>
      <dsp:txXfrm>
        <a:off x="1959" y="3095319"/>
        <a:ext cx="3676054" cy="1838027"/>
      </dsp:txXfrm>
    </dsp:sp>
    <dsp:sp modelId="{AD105107-09A6-477E-B860-F79FE895D8BC}">
      <dsp:nvSpPr>
        <dsp:cNvPr id="0" name=""/>
        <dsp:cNvSpPr/>
      </dsp:nvSpPr>
      <dsp:spPr>
        <a:xfrm>
          <a:off x="4449985" y="3095319"/>
          <a:ext cx="3676054" cy="1838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5000" kern="1200"/>
            <a:t>Obligationen</a:t>
          </a:r>
          <a:endParaRPr lang="de-CH" sz="5000" kern="1200" dirty="0"/>
        </a:p>
      </dsp:txBody>
      <dsp:txXfrm>
        <a:off x="4449985" y="3095319"/>
        <a:ext cx="3676054" cy="1838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BA969-72A5-458A-9821-65B3413DF062}" type="datetimeFigureOut">
              <a:rPr lang="en-CH" smtClean="0"/>
              <a:t>09/18/2026</a:t>
            </a:fld>
            <a:endParaRPr lang="en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DB572-0119-4A9B-BADD-B143A70FBAD0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33362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CH"/>
              <a:t>HeSe 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ME 18a – Sara Lyner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CH" dirty="0"/>
              <a:t>HS 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1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CH" dirty="0"/>
              <a:t>HS 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ME 18a – Sara Lyner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3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HeSe 2019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2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HeSe 2019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9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HeSe 2019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91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HeSe 2019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8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CH"/>
              <a:t>HeSe 2019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ME 18a – Sara Lyner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HeSe 2019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91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HeSe 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CH"/>
              <a:t>HeSe 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/>
              <a:t>ME 18a – Sara Lyner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42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r>
              <a:rPr lang="de-CH"/>
              <a:t>HeSe 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/>
              <a:t>ME 18a – Sara Lyner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400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Rectangle 1100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65796A-7EB8-45C6-B261-1EC88B8FB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620" y="863695"/>
            <a:ext cx="3511233" cy="3779995"/>
          </a:xfrm>
        </p:spPr>
        <p:txBody>
          <a:bodyPr anchor="ctr">
            <a:normAutofit/>
          </a:bodyPr>
          <a:lstStyle/>
          <a:p>
            <a:pPr algn="ctr"/>
            <a:br>
              <a:rPr lang="de-CH" noProof="0" dirty="0">
                <a:solidFill>
                  <a:srgbClr val="FFFFFF"/>
                </a:solidFill>
              </a:rPr>
            </a:br>
            <a:r>
              <a:rPr lang="de-CH" noProof="0" dirty="0">
                <a:solidFill>
                  <a:srgbClr val="FFFFFF"/>
                </a:solidFill>
              </a:rPr>
              <a:t>Kapitel 16</a:t>
            </a:r>
            <a:br>
              <a:rPr lang="de-CH" noProof="0" dirty="0">
                <a:solidFill>
                  <a:srgbClr val="FFFFFF"/>
                </a:solidFill>
              </a:rPr>
            </a:br>
            <a:br>
              <a:rPr lang="de-CH" noProof="0" dirty="0">
                <a:solidFill>
                  <a:srgbClr val="FFFFFF"/>
                </a:solidFill>
              </a:rPr>
            </a:br>
            <a:r>
              <a:rPr lang="de-DE" noProof="0" dirty="0">
                <a:solidFill>
                  <a:srgbClr val="FFFFFF"/>
                </a:solidFill>
              </a:rPr>
              <a:t>Wertschriften</a:t>
            </a:r>
            <a:endParaRPr lang="de-CH" noProof="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01A3C5-6376-45DA-8499-CE997FCF9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621" y="4739780"/>
            <a:ext cx="3511233" cy="1147054"/>
          </a:xfrm>
        </p:spPr>
        <p:txBody>
          <a:bodyPr anchor="b">
            <a:normAutofit/>
          </a:bodyPr>
          <a:lstStyle/>
          <a:p>
            <a:r>
              <a:rPr lang="de-CH" sz="2000" noProof="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FRW – </a:t>
            </a:r>
            <a:fld id="{9ABE7964-9C85-4227-8884-E66D12BE292D}" type="datetime1">
              <a:rPr lang="de-CH" sz="2000" noProof="0" smtClean="0">
                <a:solidFill>
                  <a:schemeClr val="accent1">
                    <a:lumMod val="75000"/>
                    <a:lumOff val="25000"/>
                  </a:schemeClr>
                </a:solidFill>
              </a:rPr>
              <a:t>18.09.2026</a:t>
            </a:fld>
            <a:endParaRPr lang="de-CH" sz="2000" noProof="0" dirty="0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CH"/>
          </a:p>
        </p:txBody>
      </p:sp>
      <p:pic>
        <p:nvPicPr>
          <p:cNvPr id="5" name="Grafik 4" descr="WP Schwankungsreserven auf Wertschriften">
            <a:extLst>
              <a:ext uri="{FF2B5EF4-FFF2-40B4-BE49-F238E27FC236}">
                <a16:creationId xmlns:a16="http://schemas.microsoft.com/office/drawing/2014/main" id="{9567F15A-9294-426F-2356-347EC309B4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3" r="14833" b="-1"/>
          <a:stretch>
            <a:fillRect/>
          </a:stretch>
        </p:blipFill>
        <p:spPr>
          <a:xfrm>
            <a:off x="4654295" y="457200"/>
            <a:ext cx="7086151" cy="589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357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8307F0-3F46-4766-85E5-8750BF52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 fontScale="90000"/>
          </a:bodyPr>
          <a:lstStyle/>
          <a:p>
            <a:pPr algn="ctr"/>
            <a:r>
              <a:rPr lang="de-CH" sz="4400" noProof="0" dirty="0"/>
              <a:t>Lernziele Kap 16</a:t>
            </a:r>
            <a:br>
              <a:rPr lang="de-CH" sz="4400" noProof="0" dirty="0"/>
            </a:br>
            <a:r>
              <a:rPr lang="de-CH" sz="4400" b="1" dirty="0"/>
              <a:t>Prüfung 30.10. (Fr.) mit Kap 17</a:t>
            </a:r>
            <a:endParaRPr lang="de-CH" sz="2200" noProof="0" dirty="0"/>
          </a:p>
        </p:txBody>
      </p:sp>
      <p:sp>
        <p:nvSpPr>
          <p:cNvPr id="4" name="Datumsplatzhalter 1">
            <a:extLst>
              <a:ext uri="{FF2B5EF4-FFF2-40B4-BE49-F238E27FC236}">
                <a16:creationId xmlns:a16="http://schemas.microsoft.com/office/drawing/2014/main" id="{D88C907F-7B64-EC6D-775B-EC0B42F3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70470D3E-FFDE-4C2A-EC56-6EBA4833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281596D5-D968-AAAB-5D61-46CA47AD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5CCF8B1-14BA-4761-BEE0-236358DDDAE0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noProof="0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18D2CF-B132-11F2-9AC4-306AA60FB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552" y="2275180"/>
            <a:ext cx="4148295" cy="3047044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de-DE" b="1" dirty="0"/>
              <a:t>Buchen Kauf &amp; Verkauf von WS</a:t>
            </a:r>
            <a:endParaRPr lang="de-CH" b="1" dirty="0"/>
          </a:p>
          <a:p>
            <a:r>
              <a:rPr lang="de-DE" dirty="0"/>
              <a:t>Kurswert</a:t>
            </a:r>
          </a:p>
          <a:p>
            <a:r>
              <a:rPr lang="de-DE" dirty="0"/>
              <a:t>Spesen</a:t>
            </a:r>
          </a:p>
          <a:p>
            <a:r>
              <a:rPr lang="de-DE" dirty="0"/>
              <a:t>Gebühren</a:t>
            </a:r>
          </a:p>
          <a:p>
            <a:r>
              <a:rPr lang="de-DE" dirty="0"/>
              <a:t>Kursdifferenz</a:t>
            </a:r>
          </a:p>
          <a:p>
            <a:r>
              <a:rPr lang="de-DE" dirty="0"/>
              <a:t>Marchzins (Obligation)</a:t>
            </a:r>
          </a:p>
          <a:p>
            <a:r>
              <a:rPr lang="de-DE" dirty="0"/>
              <a:t>Dividenden &amp; Zins (inkl. </a:t>
            </a:r>
            <a:r>
              <a:rPr lang="de-DE" dirty="0" err="1"/>
              <a:t>aRA</a:t>
            </a:r>
            <a:r>
              <a:rPr lang="de-DE" dirty="0"/>
              <a:t>)</a:t>
            </a:r>
            <a:endParaRPr lang="de-CH" dirty="0"/>
          </a:p>
          <a:p>
            <a:pPr marL="0" indent="0">
              <a:buNone/>
            </a:pPr>
            <a:endParaRPr lang="de-CH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A70199C-A7B1-862A-054E-5EC9584C87B4}"/>
              </a:ext>
            </a:extLst>
          </p:cNvPr>
          <p:cNvSpPr txBox="1">
            <a:spLocks/>
          </p:cNvSpPr>
          <p:nvPr/>
        </p:nvSpPr>
        <p:spPr>
          <a:xfrm>
            <a:off x="4624395" y="2275180"/>
            <a:ext cx="7230917" cy="27859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Rendite Berechnung WS</a:t>
            </a:r>
            <a:endParaRPr lang="de-CH" dirty="0"/>
          </a:p>
          <a:p>
            <a:r>
              <a:rPr lang="de-DE" dirty="0"/>
              <a:t>Rendite auf Aktien</a:t>
            </a:r>
          </a:p>
          <a:p>
            <a:r>
              <a:rPr lang="de-DE" dirty="0"/>
              <a:t>Rendite auf Obligationen</a:t>
            </a:r>
          </a:p>
          <a:p>
            <a:r>
              <a:rPr lang="de-CH" dirty="0"/>
              <a:t>unterscheiden von realisiertem &amp; unrealisiertem Wertschriftenerfolg  </a:t>
            </a:r>
          </a:p>
        </p:txBody>
      </p:sp>
    </p:spTree>
    <p:extLst>
      <p:ext uri="{BB962C8B-B14F-4D97-AF65-F5344CB8AC3E}">
        <p14:creationId xmlns:p14="http://schemas.microsoft.com/office/powerpoint/2010/main" val="349898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D16C4-778C-A016-4335-A9F896695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23CA4E68-6D7C-8164-183F-419012F1776E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</a:t>
            </a: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Buchführung </a:t>
            </a:r>
            <a:endParaRPr lang="de-CH" noProof="0" dirty="0">
              <a:solidFill>
                <a:srgbClr val="17406D">
                  <a:lumMod val="75000"/>
                </a:srgbClr>
              </a:solidFill>
              <a:cs typeface="Arial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9781F06-5B45-7236-440F-662E704170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BD813D6-ED1C-C652-AD08-5B5B52D25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DD999F7B-DD4F-85C2-7305-E65422BC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9B86129-DC08-6C2F-8453-DA0C5F007CC4}"/>
              </a:ext>
            </a:extLst>
          </p:cNvPr>
          <p:cNvSpPr txBox="1"/>
          <p:nvPr/>
        </p:nvSpPr>
        <p:spPr>
          <a:xfrm>
            <a:off x="399822" y="622009"/>
            <a:ext cx="10413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Aus Sicht Unternehmen (Finanzierung) </a:t>
            </a:r>
          </a:p>
          <a:p>
            <a:r>
              <a:rPr lang="de-DE" b="1" dirty="0">
                <a:sym typeface="Wingdings" panose="05000000000000000000" pitchFamily="2" charset="2"/>
              </a:rPr>
              <a:t> Herausgeberin der Wertschriften (Passiv-Seite) </a:t>
            </a:r>
            <a:r>
              <a:rPr lang="de-DE" dirty="0">
                <a:sym typeface="Wingdings" panose="05000000000000000000" pitchFamily="2" charset="2"/>
              </a:rPr>
              <a:t>z.T. Repetition </a:t>
            </a:r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98E28D0-1271-EF15-E93B-6B626EF44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168" y="584202"/>
            <a:ext cx="3039372" cy="6078744"/>
          </a:xfrm>
          <a:prstGeom prst="rect">
            <a:avLst/>
          </a:prstGeom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97B025B2-8813-9ED2-FDAF-6A316C69734B}"/>
              </a:ext>
            </a:extLst>
          </p:cNvPr>
          <p:cNvSpPr/>
          <p:nvPr/>
        </p:nvSpPr>
        <p:spPr>
          <a:xfrm>
            <a:off x="8396190" y="4528207"/>
            <a:ext cx="671751" cy="23471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45DA6A9-0403-5E3B-EFA5-186E0B970DE6}"/>
              </a:ext>
            </a:extLst>
          </p:cNvPr>
          <p:cNvSpPr txBox="1"/>
          <p:nvPr/>
        </p:nvSpPr>
        <p:spPr>
          <a:xfrm>
            <a:off x="6602821" y="4460899"/>
            <a:ext cx="1860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Laufzeit &amp; Zins fix</a:t>
            </a:r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2BFE45FD-EB5E-5C00-8BE0-CA80706D225E}"/>
              </a:ext>
            </a:extLst>
          </p:cNvPr>
          <p:cNvSpPr/>
          <p:nvPr/>
        </p:nvSpPr>
        <p:spPr>
          <a:xfrm>
            <a:off x="8392334" y="5642854"/>
            <a:ext cx="671751" cy="23471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7773BD5-2C72-DA16-07E3-CD57A0F13BE6}"/>
              </a:ext>
            </a:extLst>
          </p:cNvPr>
          <p:cNvSpPr txBox="1"/>
          <p:nvPr/>
        </p:nvSpPr>
        <p:spPr>
          <a:xfrm>
            <a:off x="6598965" y="5426690"/>
            <a:ext cx="1860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Nennwert Aktien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Dividenden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AEF4F9C-CF26-246D-A5E3-B2F34EADCBE1}"/>
              </a:ext>
            </a:extLst>
          </p:cNvPr>
          <p:cNvSpPr txBox="1"/>
          <p:nvPr/>
        </p:nvSpPr>
        <p:spPr>
          <a:xfrm>
            <a:off x="399822" y="4690754"/>
            <a:ext cx="5373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Obligationen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6A7C078-D37B-8C85-43A7-C4ED8704B8F2}"/>
              </a:ext>
            </a:extLst>
          </p:cNvPr>
          <p:cNvSpPr txBox="1"/>
          <p:nvPr/>
        </p:nvSpPr>
        <p:spPr>
          <a:xfrm>
            <a:off x="399822" y="5116609"/>
            <a:ext cx="2933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Herausgabe (Liberierung)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605ACB2-CAE2-C42B-C729-A1E6C8CCAFE1}"/>
              </a:ext>
            </a:extLst>
          </p:cNvPr>
          <p:cNvSpPr txBox="1"/>
          <p:nvPr/>
        </p:nvSpPr>
        <p:spPr>
          <a:xfrm>
            <a:off x="3454911" y="5116609"/>
            <a:ext cx="2933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BaG / Obligationenanleihen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A756498-D3DA-960D-F764-C47390E63721}"/>
              </a:ext>
            </a:extLst>
          </p:cNvPr>
          <p:cNvSpPr txBox="1"/>
          <p:nvPr/>
        </p:nvSpPr>
        <p:spPr>
          <a:xfrm>
            <a:off x="399822" y="5668236"/>
            <a:ext cx="2933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Zinszahlung an Gläubiger: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7F90E62-3892-7EE6-5662-8A133929D518}"/>
              </a:ext>
            </a:extLst>
          </p:cNvPr>
          <p:cNvSpPr txBox="1"/>
          <p:nvPr/>
        </p:nvSpPr>
        <p:spPr>
          <a:xfrm>
            <a:off x="3454911" y="5668236"/>
            <a:ext cx="2933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Finanz A / BaG (65%)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2D82FDB-49B4-40B4-751D-43EBC66CE343}"/>
              </a:ext>
            </a:extLst>
          </p:cNvPr>
          <p:cNvSpPr txBox="1"/>
          <p:nvPr/>
        </p:nvSpPr>
        <p:spPr>
          <a:xfrm>
            <a:off x="3454910" y="6037568"/>
            <a:ext cx="2933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Finanz A / VST Schuld (35%)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CEE3846B-E848-CAD2-7AA6-9CA7A425DF70}"/>
              </a:ext>
            </a:extLst>
          </p:cNvPr>
          <p:cNvSpPr txBox="1"/>
          <p:nvPr/>
        </p:nvSpPr>
        <p:spPr>
          <a:xfrm>
            <a:off x="399822" y="1602853"/>
            <a:ext cx="5373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Aktien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4A7D1D45-133A-C77B-B0B1-F5FE431B50A9}"/>
              </a:ext>
            </a:extLst>
          </p:cNvPr>
          <p:cNvSpPr txBox="1"/>
          <p:nvPr/>
        </p:nvSpPr>
        <p:spPr>
          <a:xfrm>
            <a:off x="399821" y="1969851"/>
            <a:ext cx="2933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Liberierung: Nennwert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C5B6EF5D-1666-38CB-2414-28973EA29C76}"/>
              </a:ext>
            </a:extLst>
          </p:cNvPr>
          <p:cNvSpPr txBox="1"/>
          <p:nvPr/>
        </p:nvSpPr>
        <p:spPr>
          <a:xfrm>
            <a:off x="3454910" y="1969851"/>
            <a:ext cx="2933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BaG / AK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6134AF91-2F65-C1B1-3D60-F72C6F30F1E2}"/>
              </a:ext>
            </a:extLst>
          </p:cNvPr>
          <p:cNvSpPr txBox="1"/>
          <p:nvPr/>
        </p:nvSpPr>
        <p:spPr>
          <a:xfrm>
            <a:off x="404634" y="2317919"/>
            <a:ext cx="2933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Liberierung: Agio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3364403-D071-D5D4-F09A-0CBD20AE0B5D}"/>
              </a:ext>
            </a:extLst>
          </p:cNvPr>
          <p:cNvSpPr txBox="1"/>
          <p:nvPr/>
        </p:nvSpPr>
        <p:spPr>
          <a:xfrm>
            <a:off x="3459723" y="2317919"/>
            <a:ext cx="3138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BaG / Gesetz. Kapitalreserven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4EED57E-D345-DB2A-B701-D3E9E9E6A348}"/>
              </a:ext>
            </a:extLst>
          </p:cNvPr>
          <p:cNvSpPr txBox="1"/>
          <p:nvPr/>
        </p:nvSpPr>
        <p:spPr>
          <a:xfrm>
            <a:off x="399822" y="3323314"/>
            <a:ext cx="2933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Dividendenzahlung an Aktionäre: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ED15B7A-EFCA-62C9-8898-C7232CCCDEA4}"/>
              </a:ext>
            </a:extLst>
          </p:cNvPr>
          <p:cNvSpPr txBox="1"/>
          <p:nvPr/>
        </p:nvSpPr>
        <p:spPr>
          <a:xfrm>
            <a:off x="3454911" y="3323314"/>
            <a:ext cx="4114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Beschl. Ausschüttungen / BaG (65%)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ABDB2D8A-D383-1BF0-C831-20B25C5B2496}"/>
              </a:ext>
            </a:extLst>
          </p:cNvPr>
          <p:cNvSpPr txBox="1"/>
          <p:nvPr/>
        </p:nvSpPr>
        <p:spPr>
          <a:xfrm>
            <a:off x="3454909" y="3692646"/>
            <a:ext cx="4344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de-DE" b="1" dirty="0">
                <a:solidFill>
                  <a:prstClr val="black"/>
                </a:solidFill>
              </a:rPr>
              <a:t>Beschl. Ausschüttungen / </a:t>
            </a: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VST Schuld (35%)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D755EC27-11AD-B288-0C3E-4E5A862503DB}"/>
              </a:ext>
            </a:extLst>
          </p:cNvPr>
          <p:cNvSpPr txBox="1"/>
          <p:nvPr/>
        </p:nvSpPr>
        <p:spPr>
          <a:xfrm>
            <a:off x="404634" y="2796022"/>
            <a:ext cx="2933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Beschluss GV: (</a:t>
            </a:r>
            <a:r>
              <a:rPr lang="de-DE" b="1" dirty="0" err="1">
                <a:solidFill>
                  <a:prstClr val="black"/>
                </a:solidFill>
                <a:latin typeface="Calibri" panose="020F0502020204030204"/>
              </a:rPr>
              <a:t>Div</a:t>
            </a: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)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C61CF348-A226-8F03-9C33-5ED312E24961}"/>
              </a:ext>
            </a:extLst>
          </p:cNvPr>
          <p:cNvSpPr txBox="1"/>
          <p:nvPr/>
        </p:nvSpPr>
        <p:spPr>
          <a:xfrm>
            <a:off x="3459723" y="2796022"/>
            <a:ext cx="3733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GV / Beschl. Ausschüttungen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1242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 animBg="1"/>
      <p:bldP spid="13" grpId="0"/>
      <p:bldP spid="14" grpId="0"/>
      <p:bldP spid="17" grpId="0"/>
      <p:bldP spid="18" grpId="0"/>
      <p:bldP spid="19" grpId="0"/>
      <p:bldP spid="20" grpId="0"/>
      <p:bldP spid="2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DEC95-D865-60A0-A095-EBBF8152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1F376D50-0CB3-D577-F39A-F0ADDBA94A29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Überblick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CE1B73-3CD4-87F1-CBA4-16A57A9901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F151085-1507-B7CF-71C0-FF79A774B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5BD7A628-E089-BA42-138C-13E78C56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052DB8D1-45AA-2412-1B49-01558E10C6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352688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7FC6E4D0-F5EE-9326-A72F-69E533A7AF01}"/>
              </a:ext>
            </a:extLst>
          </p:cNvPr>
          <p:cNvSpPr txBox="1"/>
          <p:nvPr/>
        </p:nvSpPr>
        <p:spPr>
          <a:xfrm>
            <a:off x="8034876" y="1201483"/>
            <a:ext cx="3539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Wertschriften:</a:t>
            </a:r>
          </a:p>
          <a:p>
            <a:r>
              <a:rPr lang="de-DE" b="1" dirty="0"/>
              <a:t>Handelbare Effekten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65500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15943-85E9-2C11-EEB2-093136A31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C050D621-BC78-E471-F5BA-2C4E7499979D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</a:t>
            </a: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Buchführung</a:t>
            </a:r>
            <a:endParaRPr lang="de-CH" noProof="0" dirty="0">
              <a:solidFill>
                <a:srgbClr val="17406D">
                  <a:lumMod val="75000"/>
                </a:srgbClr>
              </a:solidFill>
              <a:cs typeface="Arial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A7017F3-62E5-09AC-26F1-34EF85B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AF767A1-8AD9-A552-7B71-9EA27AE5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0E102552-EC4D-227D-D792-C679BC89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03D6460-504A-23BE-54D8-C1EA0FD48A02}"/>
              </a:ext>
            </a:extLst>
          </p:cNvPr>
          <p:cNvSpPr txBox="1"/>
          <p:nvPr/>
        </p:nvSpPr>
        <p:spPr>
          <a:xfrm>
            <a:off x="399822" y="622009"/>
            <a:ext cx="63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Handel mit Wertschriften (</a:t>
            </a:r>
            <a:r>
              <a:rPr lang="de-DE" b="1" u="sng" dirty="0"/>
              <a:t>Börse</a:t>
            </a:r>
            <a:r>
              <a:rPr lang="de-DE" b="1" dirty="0"/>
              <a:t>) </a:t>
            </a:r>
            <a:r>
              <a:rPr lang="de-DE" dirty="0"/>
              <a:t>vgl. S. 2</a:t>
            </a:r>
            <a:endParaRPr lang="de-CH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C096876-69ED-0CCD-21A1-3CA5D12F7A6A}"/>
              </a:ext>
            </a:extLst>
          </p:cNvPr>
          <p:cNvSpPr txBox="1"/>
          <p:nvPr/>
        </p:nvSpPr>
        <p:spPr>
          <a:xfrm>
            <a:off x="399821" y="1048497"/>
            <a:ext cx="11434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Kauf, Halten und Verkauf von Wertschriften müssen verbucht werden 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  <a:sym typeface="Wingdings" panose="05000000000000000000" pitchFamily="2" charset="2"/>
              </a:rPr>
              <a:t> vgl. Kap. 15 Bewertungen (Halten)</a:t>
            </a:r>
            <a:endParaRPr kumimoji="0" lang="de-DE" sz="18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lussdiagramm: Prozess 6">
            <a:extLst>
              <a:ext uri="{FF2B5EF4-FFF2-40B4-BE49-F238E27FC236}">
                <a16:creationId xmlns:a16="http://schemas.microsoft.com/office/drawing/2014/main" id="{223B886F-9410-D977-8C34-0EDF8FC65D07}"/>
              </a:ext>
            </a:extLst>
          </p:cNvPr>
          <p:cNvSpPr/>
          <p:nvPr/>
        </p:nvSpPr>
        <p:spPr>
          <a:xfrm>
            <a:off x="606056" y="2068033"/>
            <a:ext cx="1196163" cy="478465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Käufer</a:t>
            </a:r>
            <a:endParaRPr lang="de-CH" dirty="0"/>
          </a:p>
        </p:txBody>
      </p:sp>
      <p:sp>
        <p:nvSpPr>
          <p:cNvPr id="12" name="Flussdiagramm: Prozess 11">
            <a:extLst>
              <a:ext uri="{FF2B5EF4-FFF2-40B4-BE49-F238E27FC236}">
                <a16:creationId xmlns:a16="http://schemas.microsoft.com/office/drawing/2014/main" id="{4BEC73BB-B863-2300-0A8E-EF1F92690C2A}"/>
              </a:ext>
            </a:extLst>
          </p:cNvPr>
          <p:cNvSpPr/>
          <p:nvPr/>
        </p:nvSpPr>
        <p:spPr>
          <a:xfrm>
            <a:off x="3044456" y="2068032"/>
            <a:ext cx="1196163" cy="478465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Bank A</a:t>
            </a:r>
            <a:endParaRPr lang="de-CH" dirty="0"/>
          </a:p>
        </p:txBody>
      </p:sp>
      <p:sp>
        <p:nvSpPr>
          <p:cNvPr id="14" name="Flussdiagramm: Prozess 13">
            <a:extLst>
              <a:ext uri="{FF2B5EF4-FFF2-40B4-BE49-F238E27FC236}">
                <a16:creationId xmlns:a16="http://schemas.microsoft.com/office/drawing/2014/main" id="{E81099E6-AE67-24FF-5E71-96624634F110}"/>
              </a:ext>
            </a:extLst>
          </p:cNvPr>
          <p:cNvSpPr/>
          <p:nvPr/>
        </p:nvSpPr>
        <p:spPr>
          <a:xfrm>
            <a:off x="5482856" y="2068032"/>
            <a:ext cx="1196163" cy="478465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Börse</a:t>
            </a:r>
            <a:endParaRPr lang="de-CH" dirty="0"/>
          </a:p>
        </p:txBody>
      </p:sp>
      <p:sp>
        <p:nvSpPr>
          <p:cNvPr id="19" name="Flussdiagramm: Prozess 18">
            <a:extLst>
              <a:ext uri="{FF2B5EF4-FFF2-40B4-BE49-F238E27FC236}">
                <a16:creationId xmlns:a16="http://schemas.microsoft.com/office/drawing/2014/main" id="{36509B3A-1E4E-A7FA-4EFB-4DD98F1CDF1C}"/>
              </a:ext>
            </a:extLst>
          </p:cNvPr>
          <p:cNvSpPr/>
          <p:nvPr/>
        </p:nvSpPr>
        <p:spPr>
          <a:xfrm>
            <a:off x="7921256" y="2068032"/>
            <a:ext cx="1196163" cy="478465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Bank B</a:t>
            </a:r>
            <a:endParaRPr lang="de-CH" dirty="0"/>
          </a:p>
        </p:txBody>
      </p:sp>
      <p:sp>
        <p:nvSpPr>
          <p:cNvPr id="21" name="Flussdiagramm: Prozess 20">
            <a:extLst>
              <a:ext uri="{FF2B5EF4-FFF2-40B4-BE49-F238E27FC236}">
                <a16:creationId xmlns:a16="http://schemas.microsoft.com/office/drawing/2014/main" id="{AE3123DF-70ED-7C55-815D-517507E8A710}"/>
              </a:ext>
            </a:extLst>
          </p:cNvPr>
          <p:cNvSpPr/>
          <p:nvPr/>
        </p:nvSpPr>
        <p:spPr>
          <a:xfrm>
            <a:off x="10359656" y="2068031"/>
            <a:ext cx="1196163" cy="478465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Verkäufer</a:t>
            </a:r>
            <a:endParaRPr lang="de-CH" dirty="0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24CB3AB6-9CE1-6F9D-565A-2CD81972423E}"/>
              </a:ext>
            </a:extLst>
          </p:cNvPr>
          <p:cNvCxnSpPr/>
          <p:nvPr/>
        </p:nvCxnSpPr>
        <p:spPr>
          <a:xfrm>
            <a:off x="1956392" y="2142461"/>
            <a:ext cx="925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9AD00F4D-45CB-C524-1573-0B21E4A67553}"/>
              </a:ext>
            </a:extLst>
          </p:cNvPr>
          <p:cNvCxnSpPr>
            <a:cxnSpLocks/>
          </p:cNvCxnSpPr>
          <p:nvPr/>
        </p:nvCxnSpPr>
        <p:spPr>
          <a:xfrm flipH="1">
            <a:off x="1956392" y="2411813"/>
            <a:ext cx="925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7976527-95CE-DBF8-9A88-D5378D54C043}"/>
              </a:ext>
            </a:extLst>
          </p:cNvPr>
          <p:cNvSpPr txBox="1"/>
          <p:nvPr/>
        </p:nvSpPr>
        <p:spPr>
          <a:xfrm>
            <a:off x="1773361" y="1771411"/>
            <a:ext cx="1299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Kaufauftrag</a:t>
            </a:r>
            <a:endParaRPr kumimoji="0" lang="de-DE" sz="18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6E02F9B-F10B-9E0A-39B6-268C9B31883F}"/>
              </a:ext>
            </a:extLst>
          </p:cNvPr>
          <p:cNvSpPr txBox="1"/>
          <p:nvPr/>
        </p:nvSpPr>
        <p:spPr>
          <a:xfrm>
            <a:off x="1768931" y="2425942"/>
            <a:ext cx="1299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Belastung</a:t>
            </a:r>
            <a:endParaRPr kumimoji="0" lang="de-DE" sz="18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0F558DE5-8228-2A1F-1109-EEE850610591}"/>
              </a:ext>
            </a:extLst>
          </p:cNvPr>
          <p:cNvCxnSpPr/>
          <p:nvPr/>
        </p:nvCxnSpPr>
        <p:spPr>
          <a:xfrm>
            <a:off x="4384165" y="2294861"/>
            <a:ext cx="925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CE18029-4237-8BD0-B4BB-5E069630B728}"/>
              </a:ext>
            </a:extLst>
          </p:cNvPr>
          <p:cNvCxnSpPr>
            <a:cxnSpLocks/>
          </p:cNvCxnSpPr>
          <p:nvPr/>
        </p:nvCxnSpPr>
        <p:spPr>
          <a:xfrm flipH="1">
            <a:off x="9273807" y="2142461"/>
            <a:ext cx="925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178C97C8-A471-47C9-1A59-C7162C60894B}"/>
              </a:ext>
            </a:extLst>
          </p:cNvPr>
          <p:cNvCxnSpPr>
            <a:cxnSpLocks/>
          </p:cNvCxnSpPr>
          <p:nvPr/>
        </p:nvCxnSpPr>
        <p:spPr>
          <a:xfrm>
            <a:off x="9273807" y="2411813"/>
            <a:ext cx="925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84DA73D2-3478-0426-E371-BD59E74C9F00}"/>
              </a:ext>
            </a:extLst>
          </p:cNvPr>
          <p:cNvSpPr txBox="1"/>
          <p:nvPr/>
        </p:nvSpPr>
        <p:spPr>
          <a:xfrm>
            <a:off x="8880848" y="1766065"/>
            <a:ext cx="1746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Verkaufsauftrag</a:t>
            </a:r>
            <a:endParaRPr kumimoji="0" lang="de-DE" sz="18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A0652257-FAA1-EF9B-6A0D-F361120533BB}"/>
              </a:ext>
            </a:extLst>
          </p:cNvPr>
          <p:cNvSpPr txBox="1"/>
          <p:nvPr/>
        </p:nvSpPr>
        <p:spPr>
          <a:xfrm>
            <a:off x="9086346" y="2425942"/>
            <a:ext cx="1299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Gutschrift</a:t>
            </a:r>
            <a:endParaRPr kumimoji="0" lang="de-DE" sz="18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5BB29D28-6187-79E7-20AA-3A239635675F}"/>
              </a:ext>
            </a:extLst>
          </p:cNvPr>
          <p:cNvCxnSpPr>
            <a:cxnSpLocks/>
          </p:cNvCxnSpPr>
          <p:nvPr/>
        </p:nvCxnSpPr>
        <p:spPr>
          <a:xfrm flipH="1">
            <a:off x="6849147" y="2307263"/>
            <a:ext cx="925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ussdiagramm: Prozess 35">
            <a:extLst>
              <a:ext uri="{FF2B5EF4-FFF2-40B4-BE49-F238E27FC236}">
                <a16:creationId xmlns:a16="http://schemas.microsoft.com/office/drawing/2014/main" id="{58C3C4C8-CC15-3BC2-C483-D556F69BCE51}"/>
              </a:ext>
            </a:extLst>
          </p:cNvPr>
          <p:cNvSpPr/>
          <p:nvPr/>
        </p:nvSpPr>
        <p:spPr>
          <a:xfrm>
            <a:off x="606056" y="3238476"/>
            <a:ext cx="1196163" cy="478465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Käufer</a:t>
            </a:r>
            <a:endParaRPr lang="de-CH" dirty="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9EF9BB28-867F-8A4B-A848-D320F8249D21}"/>
              </a:ext>
            </a:extLst>
          </p:cNvPr>
          <p:cNvSpPr txBox="1"/>
          <p:nvPr/>
        </p:nvSpPr>
        <p:spPr>
          <a:xfrm>
            <a:off x="1852725" y="3170971"/>
            <a:ext cx="20573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Kauft Wertpapiere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Zahlt per Bank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42FC3F0-8BD4-8D09-AD24-D4A64C780AE1}"/>
              </a:ext>
            </a:extLst>
          </p:cNvPr>
          <p:cNvSpPr txBox="1"/>
          <p:nvPr/>
        </p:nvSpPr>
        <p:spPr>
          <a:xfrm>
            <a:off x="4240620" y="3309470"/>
            <a:ext cx="1490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WS / Ba</a:t>
            </a:r>
            <a:endParaRPr kumimoji="0" lang="de-DE" sz="18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Flussdiagramm: Prozess 42">
            <a:extLst>
              <a:ext uri="{FF2B5EF4-FFF2-40B4-BE49-F238E27FC236}">
                <a16:creationId xmlns:a16="http://schemas.microsoft.com/office/drawing/2014/main" id="{7B7A5FD6-B394-E94B-3C9E-EC0A6ECA6B72}"/>
              </a:ext>
            </a:extLst>
          </p:cNvPr>
          <p:cNvSpPr/>
          <p:nvPr/>
        </p:nvSpPr>
        <p:spPr>
          <a:xfrm>
            <a:off x="606056" y="4158958"/>
            <a:ext cx="1196163" cy="478465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Verkäufer</a:t>
            </a:r>
            <a:endParaRPr lang="de-CH" dirty="0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B1D7DE79-6202-FD3B-9138-A594DB86BE16}"/>
              </a:ext>
            </a:extLst>
          </p:cNvPr>
          <p:cNvSpPr txBox="1"/>
          <p:nvPr/>
        </p:nvSpPr>
        <p:spPr>
          <a:xfrm>
            <a:off x="1852725" y="4091453"/>
            <a:ext cx="2531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Verkauft Wertpapiere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Erhalt Zahlung auf Bank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4E1E45F-EBD8-3904-9F99-03D7DFB726C3}"/>
              </a:ext>
            </a:extLst>
          </p:cNvPr>
          <p:cNvSpPr txBox="1"/>
          <p:nvPr/>
        </p:nvSpPr>
        <p:spPr>
          <a:xfrm>
            <a:off x="4240620" y="4229952"/>
            <a:ext cx="1490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Ba / WS</a:t>
            </a:r>
            <a:endParaRPr kumimoji="0" lang="de-DE" sz="18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978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4" grpId="0" animBg="1"/>
      <p:bldP spid="19" grpId="0" animBg="1"/>
      <p:bldP spid="21" grpId="0" animBg="1"/>
      <p:bldP spid="27" grpId="0"/>
      <p:bldP spid="29" grpId="0"/>
      <p:bldP spid="33" grpId="0"/>
      <p:bldP spid="34" grpId="0"/>
      <p:bldP spid="36" grpId="0" animBg="1"/>
      <p:bldP spid="38" grpId="0"/>
      <p:bldP spid="40" grpId="0"/>
      <p:bldP spid="43" grpId="0" animBg="1"/>
      <p:bldP spid="44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C7321-B0C3-8AF0-05B1-4D4F51B7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FDAA2222-BA2C-A325-9574-C26F5E593C9D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</a:t>
            </a: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Buchführung</a:t>
            </a:r>
            <a:endParaRPr lang="de-CH" noProof="0" dirty="0">
              <a:solidFill>
                <a:srgbClr val="17406D">
                  <a:lumMod val="75000"/>
                </a:srgbClr>
              </a:solidFill>
              <a:cs typeface="Arial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46A45E4-BFFB-F6F0-88D0-997A9BA0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B602B13-337F-C763-D59A-85CA0D9E3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D8D82303-5F45-2FB0-8479-A41931FA7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10E6BDC-DE69-93CA-B1ED-3337D1F85BC5}"/>
              </a:ext>
            </a:extLst>
          </p:cNvPr>
          <p:cNvSpPr txBox="1"/>
          <p:nvPr/>
        </p:nvSpPr>
        <p:spPr>
          <a:xfrm>
            <a:off x="399822" y="622009"/>
            <a:ext cx="63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Worum geht’s?</a:t>
            </a:r>
            <a:endParaRPr lang="de-CH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1216168-B26E-E54F-625C-A9AAE307F705}"/>
              </a:ext>
            </a:extLst>
          </p:cNvPr>
          <p:cNvSpPr txBox="1"/>
          <p:nvPr/>
        </p:nvSpPr>
        <p:spPr>
          <a:xfrm>
            <a:off x="399822" y="1048497"/>
            <a:ext cx="40180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Kauf, Halten und Verkauf von Wertschriften müssen verbucht werden 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  <a:sym typeface="Wingdings" panose="05000000000000000000" pitchFamily="2" charset="2"/>
              </a:rPr>
              <a:t> vgl. Kap. 15 Bewertungen (Halten)</a:t>
            </a:r>
            <a:endParaRPr kumimoji="0" lang="de-DE" sz="18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3202588-866D-7157-F06D-7DD24F254558}"/>
              </a:ext>
            </a:extLst>
          </p:cNvPr>
          <p:cNvSpPr txBox="1"/>
          <p:nvPr/>
        </p:nvSpPr>
        <p:spPr>
          <a:xfrm>
            <a:off x="5046250" y="1048497"/>
            <a:ext cx="5580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3 mögliche Konten in </a:t>
            </a: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Bilanz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E738B97-9528-C1C4-09CC-9F7FD2895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862" y="608848"/>
            <a:ext cx="2591380" cy="6026696"/>
          </a:xfrm>
          <a:prstGeom prst="rect">
            <a:avLst/>
          </a:prstGeom>
        </p:spPr>
      </p:pic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8AD106E1-52F7-6107-A0E1-82497A359C8A}"/>
              </a:ext>
            </a:extLst>
          </p:cNvPr>
          <p:cNvSpPr/>
          <p:nvPr/>
        </p:nvSpPr>
        <p:spPr>
          <a:xfrm rot="20554214">
            <a:off x="7066529" y="1580382"/>
            <a:ext cx="983511" cy="23471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554225E-4FF5-C3FE-FDDF-C7C8CA6557C4}"/>
              </a:ext>
            </a:extLst>
          </p:cNvPr>
          <p:cNvSpPr txBox="1"/>
          <p:nvPr/>
        </p:nvSpPr>
        <p:spPr>
          <a:xfrm>
            <a:off x="5046250" y="1772344"/>
            <a:ext cx="29334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kurzfristig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Liquiditätsreserven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Börsenkotiert</a:t>
            </a:r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3170502D-357C-92D5-AC1E-DC30FF44C510}"/>
              </a:ext>
            </a:extLst>
          </p:cNvPr>
          <p:cNvSpPr/>
          <p:nvPr/>
        </p:nvSpPr>
        <p:spPr>
          <a:xfrm>
            <a:off x="7044154" y="4641450"/>
            <a:ext cx="983511" cy="23471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6ED8B52-09D0-DF46-4164-11E4B997976D}"/>
              </a:ext>
            </a:extLst>
          </p:cNvPr>
          <p:cNvSpPr txBox="1"/>
          <p:nvPr/>
        </p:nvSpPr>
        <p:spPr>
          <a:xfrm>
            <a:off x="5299392" y="4235627"/>
            <a:ext cx="2933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Langfristig oder nicht Börsenkotiert</a:t>
            </a:r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C215296D-4B1B-7157-A94F-8932BEAC149B}"/>
              </a:ext>
            </a:extLst>
          </p:cNvPr>
          <p:cNvSpPr/>
          <p:nvPr/>
        </p:nvSpPr>
        <p:spPr>
          <a:xfrm>
            <a:off x="7044154" y="4937560"/>
            <a:ext cx="983511" cy="23471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C81E3AB-CAA8-0E38-6F62-CDF81371354B}"/>
              </a:ext>
            </a:extLst>
          </p:cNvPr>
          <p:cNvSpPr txBox="1"/>
          <p:nvPr/>
        </p:nvSpPr>
        <p:spPr>
          <a:xfrm>
            <a:off x="5299393" y="4982295"/>
            <a:ext cx="1664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Mind. 20%</a:t>
            </a:r>
          </a:p>
        </p:txBody>
      </p:sp>
    </p:spTree>
    <p:extLst>
      <p:ext uri="{BB962C8B-B14F-4D97-AF65-F5344CB8AC3E}">
        <p14:creationId xmlns:p14="http://schemas.microsoft.com/office/powerpoint/2010/main" val="314196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 animBg="1"/>
      <p:bldP spid="15" grpId="0"/>
      <p:bldP spid="16" grpId="0" animBg="1"/>
      <p:bldP spid="17" grpId="0"/>
      <p:bldP spid="18" grpId="0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1D207-A2AC-4608-F7E4-FC40F182B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D8DD8EBE-D0E0-B9A3-51B8-6B0C067184E9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</a:t>
            </a: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Buchführung</a:t>
            </a:r>
            <a:endParaRPr lang="de-CH" noProof="0" dirty="0">
              <a:solidFill>
                <a:srgbClr val="17406D">
                  <a:lumMod val="75000"/>
                </a:srgbClr>
              </a:solidFill>
              <a:cs typeface="Arial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78B434E-F1E5-72A1-5832-F7CC7F8482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EEFAAF-066C-3015-ADFD-10212BFCA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069B3A80-7B27-38B6-7EC4-5FA3E6B5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39D33FB-7A58-3BBA-59EA-039756DDF7BF}"/>
              </a:ext>
            </a:extLst>
          </p:cNvPr>
          <p:cNvSpPr txBox="1"/>
          <p:nvPr/>
        </p:nvSpPr>
        <p:spPr>
          <a:xfrm>
            <a:off x="399822" y="622009"/>
            <a:ext cx="63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Worum geht’s?</a:t>
            </a:r>
            <a:endParaRPr lang="de-CH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164F0DF-E57D-4E53-C9B8-3532A6C5F681}"/>
              </a:ext>
            </a:extLst>
          </p:cNvPr>
          <p:cNvSpPr txBox="1"/>
          <p:nvPr/>
        </p:nvSpPr>
        <p:spPr>
          <a:xfrm>
            <a:off x="399821" y="1048497"/>
            <a:ext cx="11434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Kauf, Halten und Verkauf von Wertschriften müssen verbucht werden 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  <a:sym typeface="Wingdings" panose="05000000000000000000" pitchFamily="2" charset="2"/>
              </a:rPr>
              <a:t> vgl. Kap. 15 Bewertungen (Halten)</a:t>
            </a:r>
            <a:endParaRPr kumimoji="0" lang="de-DE" sz="18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3E6DBBE-85A7-1452-9428-B354B383247A}"/>
              </a:ext>
            </a:extLst>
          </p:cNvPr>
          <p:cNvSpPr txBox="1"/>
          <p:nvPr/>
        </p:nvSpPr>
        <p:spPr>
          <a:xfrm>
            <a:off x="399821" y="1794163"/>
            <a:ext cx="5373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ALLE </a:t>
            </a: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Aufwände 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im Zusammenhang mit Wertschriften: </a:t>
            </a:r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3E16651A-F834-E543-11CF-1762CB3C2416}"/>
              </a:ext>
            </a:extLst>
          </p:cNvPr>
          <p:cNvSpPr/>
          <p:nvPr/>
        </p:nvSpPr>
        <p:spPr>
          <a:xfrm>
            <a:off x="5831074" y="3938082"/>
            <a:ext cx="983511" cy="23471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4EC7C46-4AB4-C54E-7B80-77B0F4B5AC10}"/>
              </a:ext>
            </a:extLst>
          </p:cNvPr>
          <p:cNvSpPr txBox="1"/>
          <p:nvPr/>
        </p:nvSpPr>
        <p:spPr>
          <a:xfrm>
            <a:off x="6910278" y="1812673"/>
            <a:ext cx="2933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Finanz Aufwand</a:t>
            </a:r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E43F523B-CD69-3BD3-DF49-AD0EBEBA58AD}"/>
              </a:ext>
            </a:extLst>
          </p:cNvPr>
          <p:cNvSpPr/>
          <p:nvPr/>
        </p:nvSpPr>
        <p:spPr>
          <a:xfrm>
            <a:off x="5831074" y="1861470"/>
            <a:ext cx="983511" cy="23471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4FAFB21-A273-E974-7F46-B55B92F0A113}"/>
              </a:ext>
            </a:extLst>
          </p:cNvPr>
          <p:cNvSpPr txBox="1"/>
          <p:nvPr/>
        </p:nvSpPr>
        <p:spPr>
          <a:xfrm>
            <a:off x="399821" y="3870775"/>
            <a:ext cx="5373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ALLE </a:t>
            </a:r>
            <a:r>
              <a:rPr lang="de-DE" b="1" dirty="0">
                <a:solidFill>
                  <a:prstClr val="black"/>
                </a:solidFill>
                <a:latin typeface="Calibri" panose="020F0502020204030204"/>
              </a:rPr>
              <a:t>Erträge 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im Zusammenhang mit Wertschriften: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9A704FB-BC98-2690-EEFD-373391C354CE}"/>
              </a:ext>
            </a:extLst>
          </p:cNvPr>
          <p:cNvSpPr txBox="1"/>
          <p:nvPr/>
        </p:nvSpPr>
        <p:spPr>
          <a:xfrm>
            <a:off x="6910277" y="3870775"/>
            <a:ext cx="2933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Finanz Ertrag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01F0F23-49B0-BB06-074D-14FA0BE4319A}"/>
              </a:ext>
            </a:extLst>
          </p:cNvPr>
          <p:cNvSpPr txBox="1"/>
          <p:nvPr/>
        </p:nvSpPr>
        <p:spPr>
          <a:xfrm>
            <a:off x="399821" y="2285042"/>
            <a:ext cx="29334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Kauf- &amp; Verkaufsgebühren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Kursverlust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Depotgebühren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23A3D46-CC17-2919-F59B-1A988E3C4CB5}"/>
              </a:ext>
            </a:extLst>
          </p:cNvPr>
          <p:cNvSpPr txBox="1"/>
          <p:nvPr/>
        </p:nvSpPr>
        <p:spPr>
          <a:xfrm>
            <a:off x="399821" y="4362389"/>
            <a:ext cx="29334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Zinsen (inkl. Marchzins)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Dividenden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Kursgewinn</a:t>
            </a:r>
          </a:p>
        </p:txBody>
      </p:sp>
    </p:spTree>
    <p:extLst>
      <p:ext uri="{BB962C8B-B14F-4D97-AF65-F5344CB8AC3E}">
        <p14:creationId xmlns:p14="http://schemas.microsoft.com/office/powerpoint/2010/main" val="234962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animBg="1"/>
      <p:bldP spid="17" grpId="0"/>
      <p:bldP spid="18" grpId="0" animBg="1"/>
      <p:bldP spid="4" grpId="0"/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CE12F-9EEE-3617-7A07-BB6E366B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D22A1C12-8AC4-F6DC-0C22-72040F6655B2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</a:t>
            </a: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Übersicht</a:t>
            </a:r>
            <a:endParaRPr lang="de-CH" noProof="0" dirty="0">
              <a:solidFill>
                <a:srgbClr val="17406D">
                  <a:lumMod val="75000"/>
                </a:srgbClr>
              </a:solidFill>
              <a:cs typeface="Arial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084E8A-5A4E-79CF-AE30-CD8E122F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69942B1-511D-3A90-A838-D760FC94B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14967770-48C4-2FBA-F7A3-F3EBAD08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37B0E97-831E-7FB9-62DE-C9B280D407CF}"/>
              </a:ext>
            </a:extLst>
          </p:cNvPr>
          <p:cNvSpPr txBox="1"/>
          <p:nvPr/>
        </p:nvSpPr>
        <p:spPr>
          <a:xfrm>
            <a:off x="506147" y="728335"/>
            <a:ext cx="63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Abgrenzung Aktien – Obligationen </a:t>
            </a:r>
            <a:endParaRPr lang="de-CH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B1ED126C-39F2-C813-E9FA-A9D365A6B4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598507"/>
              </p:ext>
            </p:extLst>
          </p:nvPr>
        </p:nvGraphicFramePr>
        <p:xfrm>
          <a:off x="544798" y="1171234"/>
          <a:ext cx="10863937" cy="492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398">
                  <a:extLst>
                    <a:ext uri="{9D8B030D-6E8A-4147-A177-3AD203B41FA5}">
                      <a16:colId xmlns:a16="http://schemas.microsoft.com/office/drawing/2014/main" val="2142277844"/>
                    </a:ext>
                  </a:extLst>
                </a:gridCol>
                <a:gridCol w="2992120">
                  <a:extLst>
                    <a:ext uri="{9D8B030D-6E8A-4147-A177-3AD203B41FA5}">
                      <a16:colId xmlns:a16="http://schemas.microsoft.com/office/drawing/2014/main" val="3427586895"/>
                    </a:ext>
                  </a:extLst>
                </a:gridCol>
                <a:gridCol w="2604760">
                  <a:extLst>
                    <a:ext uri="{9D8B030D-6E8A-4147-A177-3AD203B41FA5}">
                      <a16:colId xmlns:a16="http://schemas.microsoft.com/office/drawing/2014/main" val="1680895085"/>
                    </a:ext>
                  </a:extLst>
                </a:gridCol>
                <a:gridCol w="3049659">
                  <a:extLst>
                    <a:ext uri="{9D8B030D-6E8A-4147-A177-3AD203B41FA5}">
                      <a16:colId xmlns:a16="http://schemas.microsoft.com/office/drawing/2014/main" val="587543556"/>
                    </a:ext>
                  </a:extLst>
                </a:gridCol>
              </a:tblGrid>
              <a:tr h="568844">
                <a:tc rowSpan="2" gridSpan="2">
                  <a:txBody>
                    <a:bodyPr/>
                    <a:lstStyle/>
                    <a:p>
                      <a:r>
                        <a:rPr lang="de-CH" dirty="0"/>
                        <a:t>Kriterien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de-CH" dirty="0"/>
                        <a:t>Merkmale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261959"/>
                  </a:ext>
                </a:extLst>
              </a:tr>
              <a:tr h="373024">
                <a:tc gridSpan="2"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b="1" dirty="0"/>
                        <a:t>Aktien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b="1" dirty="0"/>
                        <a:t>Obligationen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570511"/>
                  </a:ext>
                </a:extLst>
              </a:tr>
              <a:tr h="568844">
                <a:tc gridSpan="2">
                  <a:txBody>
                    <a:bodyPr/>
                    <a:lstStyle/>
                    <a:p>
                      <a:r>
                        <a:rPr lang="de-CH" dirty="0"/>
                        <a:t>Art verbrieftes Recht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407794"/>
                  </a:ext>
                </a:extLst>
              </a:tr>
              <a:tr h="568844">
                <a:tc gridSpan="2">
                  <a:txBody>
                    <a:bodyPr/>
                    <a:lstStyle/>
                    <a:p>
                      <a:r>
                        <a:rPr lang="de-CH" dirty="0"/>
                        <a:t>Art des Kapitals (Sicht Unternehmen!)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162803"/>
                  </a:ext>
                </a:extLst>
              </a:tr>
              <a:tr h="568844">
                <a:tc gridSpan="2">
                  <a:txBody>
                    <a:bodyPr/>
                    <a:lstStyle/>
                    <a:p>
                      <a:r>
                        <a:rPr lang="de-CH" dirty="0"/>
                        <a:t>Börsenkurs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00436"/>
                  </a:ext>
                </a:extLst>
              </a:tr>
              <a:tr h="568844">
                <a:tc gridSpan="2">
                  <a:txBody>
                    <a:bodyPr/>
                    <a:lstStyle/>
                    <a:p>
                      <a:r>
                        <a:rPr lang="de-CH" dirty="0"/>
                        <a:t>Mitwirkungsrechte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690587"/>
                  </a:ext>
                </a:extLst>
              </a:tr>
              <a:tr h="568844">
                <a:tc rowSpan="3">
                  <a:txBody>
                    <a:bodyPr/>
                    <a:lstStyle/>
                    <a:p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Entschädigung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203636"/>
                  </a:ext>
                </a:extLst>
              </a:tr>
              <a:tr h="568844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Laufzeit/Rückzahlung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59182"/>
                  </a:ext>
                </a:extLst>
              </a:tr>
              <a:tr h="568844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Liquidationserlös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080324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964BC7A9-32C8-400E-1A69-4593B771AF86}"/>
              </a:ext>
            </a:extLst>
          </p:cNvPr>
          <p:cNvSpPr txBox="1"/>
          <p:nvPr/>
        </p:nvSpPr>
        <p:spPr>
          <a:xfrm>
            <a:off x="604686" y="5051101"/>
            <a:ext cx="184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Vermögensrechte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12FC52C-AC50-AA81-A833-D7724B973DB1}"/>
              </a:ext>
            </a:extLst>
          </p:cNvPr>
          <p:cNvSpPr txBox="1"/>
          <p:nvPr/>
        </p:nvSpPr>
        <p:spPr>
          <a:xfrm>
            <a:off x="5821552" y="2175855"/>
            <a:ext cx="19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Beteiligungspapier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0C0D849-CA76-E7E7-7408-1E0B784FBF5A}"/>
              </a:ext>
            </a:extLst>
          </p:cNvPr>
          <p:cNvSpPr txBox="1"/>
          <p:nvPr/>
        </p:nvSpPr>
        <p:spPr>
          <a:xfrm>
            <a:off x="8446435" y="2175855"/>
            <a:ext cx="1848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Forderungspapier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F66133A-5340-A138-22F4-9E8036C2F289}"/>
              </a:ext>
            </a:extLst>
          </p:cNvPr>
          <p:cNvSpPr txBox="1"/>
          <p:nvPr/>
        </p:nvSpPr>
        <p:spPr>
          <a:xfrm>
            <a:off x="5821552" y="2809320"/>
            <a:ext cx="1975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EK </a:t>
            </a:r>
            <a:r>
              <a:rPr lang="de-CH" dirty="0">
                <a:sym typeface="Wingdings" panose="05000000000000000000" pitchFamily="2" charset="2"/>
              </a:rPr>
              <a:t> Aktienkapital</a:t>
            </a:r>
            <a:endParaRPr lang="de-CH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C25D56C-B9F3-F0CC-820B-48DF042D6811}"/>
              </a:ext>
            </a:extLst>
          </p:cNvPr>
          <p:cNvSpPr txBox="1"/>
          <p:nvPr/>
        </p:nvSpPr>
        <p:spPr>
          <a:xfrm>
            <a:off x="8446435" y="2766116"/>
            <a:ext cx="2759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FK </a:t>
            </a:r>
            <a:r>
              <a:rPr lang="de-CH" dirty="0">
                <a:sym typeface="Wingdings" panose="05000000000000000000" pitchFamily="2" charset="2"/>
              </a:rPr>
              <a:t> Obligationenanleihen</a:t>
            </a:r>
            <a:endParaRPr lang="de-CH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F0A5641-2F05-BF91-C399-C2A3F1E86768}"/>
              </a:ext>
            </a:extLst>
          </p:cNvPr>
          <p:cNvSpPr txBox="1"/>
          <p:nvPr/>
        </p:nvSpPr>
        <p:spPr>
          <a:xfrm>
            <a:off x="5821552" y="3365142"/>
            <a:ext cx="1196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Für 1 Aktie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D507FD1-75D8-AE01-2576-9572338B5A36}"/>
              </a:ext>
            </a:extLst>
          </p:cNvPr>
          <p:cNvSpPr txBox="1"/>
          <p:nvPr/>
        </p:nvSpPr>
        <p:spPr>
          <a:xfrm>
            <a:off x="8427724" y="3368641"/>
            <a:ext cx="1814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% des Nennwerts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2DD6E4F-D0E9-A28B-76E1-16FD82E6C100}"/>
              </a:ext>
            </a:extLst>
          </p:cNvPr>
          <p:cNvSpPr txBox="1"/>
          <p:nvPr/>
        </p:nvSpPr>
        <p:spPr>
          <a:xfrm>
            <a:off x="8427724" y="393844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-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352427F-BCB5-5B59-3849-197510E145C6}"/>
              </a:ext>
            </a:extLst>
          </p:cNvPr>
          <p:cNvSpPr txBox="1"/>
          <p:nvPr/>
        </p:nvSpPr>
        <p:spPr>
          <a:xfrm>
            <a:off x="5821552" y="3919376"/>
            <a:ext cx="189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Stimmrecht an GV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EAACFA0-98A1-766F-3F6C-9BD1EA09C53E}"/>
              </a:ext>
            </a:extLst>
          </p:cNvPr>
          <p:cNvSpPr txBox="1"/>
          <p:nvPr/>
        </p:nvSpPr>
        <p:spPr>
          <a:xfrm>
            <a:off x="5821552" y="4391061"/>
            <a:ext cx="2203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Anspruch auf Gewinn</a:t>
            </a:r>
            <a:br>
              <a:rPr lang="de-CH" dirty="0"/>
            </a:br>
            <a:r>
              <a:rPr lang="de-CH" dirty="0"/>
              <a:t>= </a:t>
            </a:r>
            <a:r>
              <a:rPr lang="de-CH" b="1" dirty="0"/>
              <a:t>Dividende (VST!)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D547CF3-8249-59DA-FB58-F0FC97955C01}"/>
              </a:ext>
            </a:extLst>
          </p:cNvPr>
          <p:cNvSpPr txBox="1"/>
          <p:nvPr/>
        </p:nvSpPr>
        <p:spPr>
          <a:xfrm>
            <a:off x="8365551" y="4366268"/>
            <a:ext cx="2033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Anspruch auf fest-</a:t>
            </a:r>
            <a:br>
              <a:rPr lang="de-CH" dirty="0"/>
            </a:br>
            <a:r>
              <a:rPr lang="de-CH" dirty="0"/>
              <a:t>gelegten </a:t>
            </a:r>
            <a:r>
              <a:rPr lang="de-CH" b="1" dirty="0"/>
              <a:t>Zins</a:t>
            </a:r>
            <a:r>
              <a:rPr lang="de-CH" dirty="0"/>
              <a:t> (</a:t>
            </a:r>
            <a:r>
              <a:rPr lang="de-CH" b="1" dirty="0"/>
              <a:t>VST</a:t>
            </a:r>
            <a:r>
              <a:rPr lang="de-CH" dirty="0"/>
              <a:t>!)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C2C594E-80E9-75D7-D048-499FE0E1AF22}"/>
              </a:ext>
            </a:extLst>
          </p:cNvPr>
          <p:cNvSpPr txBox="1"/>
          <p:nvPr/>
        </p:nvSpPr>
        <p:spPr>
          <a:xfrm>
            <a:off x="5952684" y="503035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-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4733A0C-AB7D-AE9F-E896-C6FBA4BFD279}"/>
              </a:ext>
            </a:extLst>
          </p:cNvPr>
          <p:cNvSpPr txBox="1"/>
          <p:nvPr/>
        </p:nvSpPr>
        <p:spPr>
          <a:xfrm>
            <a:off x="8446435" y="6199873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-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0F2B3FF-AEE0-FE08-5F7E-5025617F388D}"/>
              </a:ext>
            </a:extLst>
          </p:cNvPr>
          <p:cNvSpPr txBox="1"/>
          <p:nvPr/>
        </p:nvSpPr>
        <p:spPr>
          <a:xfrm>
            <a:off x="5724218" y="5469900"/>
            <a:ext cx="27360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Entschädigung nach </a:t>
            </a:r>
            <a:br>
              <a:rPr lang="de-CH" dirty="0"/>
            </a:br>
            <a:r>
              <a:rPr lang="de-CH" dirty="0"/>
              <a:t>Rückzahlung aller Schulden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DD7A057-619B-1DDD-02DB-BE67AFD3BA2F}"/>
              </a:ext>
            </a:extLst>
          </p:cNvPr>
          <p:cNvSpPr txBox="1"/>
          <p:nvPr/>
        </p:nvSpPr>
        <p:spPr>
          <a:xfrm>
            <a:off x="8365551" y="5482529"/>
            <a:ext cx="26720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Entschädigung im Rahmen</a:t>
            </a:r>
            <a:br>
              <a:rPr lang="de-CH" dirty="0"/>
            </a:br>
            <a:r>
              <a:rPr lang="de-CH" dirty="0"/>
              <a:t>Konkursverfahren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BD0D637-5533-3C63-D120-291194E86276}"/>
              </a:ext>
            </a:extLst>
          </p:cNvPr>
          <p:cNvSpPr txBox="1"/>
          <p:nvPr/>
        </p:nvSpPr>
        <p:spPr>
          <a:xfrm>
            <a:off x="8328687" y="4930481"/>
            <a:ext cx="2485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100% Rückzahlung nach </a:t>
            </a:r>
            <a:br>
              <a:rPr lang="de-CH" dirty="0"/>
            </a:br>
            <a:r>
              <a:rPr lang="de-CH" dirty="0"/>
              <a:t>Ablauf Laufzeit</a:t>
            </a:r>
          </a:p>
        </p:txBody>
      </p:sp>
    </p:spTree>
    <p:extLst>
      <p:ext uri="{BB962C8B-B14F-4D97-AF65-F5344CB8AC3E}">
        <p14:creationId xmlns:p14="http://schemas.microsoft.com/office/powerpoint/2010/main" val="285178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D0300-2804-83B1-C646-91A9E2B81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C95394E4-6748-207C-2A99-A65772343F15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Buchführung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3E67458-79BD-E5B8-B307-13D8FA618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A57FF0-E4B3-259E-8DA7-0E07FBD4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E4176F78-FD0B-EC1F-5596-74356A70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FBF206F-89C5-1E77-057C-FC04B14D3FDC}"/>
              </a:ext>
            </a:extLst>
          </p:cNvPr>
          <p:cNvSpPr txBox="1"/>
          <p:nvPr/>
        </p:nvSpPr>
        <p:spPr>
          <a:xfrm>
            <a:off x="399821" y="622009"/>
            <a:ext cx="7803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ACHTUNG: Obligationen – Marchzins </a:t>
            </a: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90A0075-28E4-16F6-5CA1-58F963E86F44}"/>
              </a:ext>
            </a:extLst>
          </p:cNvPr>
          <p:cNvSpPr txBox="1"/>
          <p:nvPr/>
        </p:nvSpPr>
        <p:spPr>
          <a:xfrm>
            <a:off x="399820" y="1116004"/>
            <a:ext cx="11359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Zins ist über Laufzeit fix </a:t>
            </a:r>
            <a:r>
              <a:rPr lang="de-DE" dirty="0">
                <a:sym typeface="Wingdings" panose="05000000000000000000" pitchFamily="2" charset="2"/>
              </a:rPr>
              <a:t> es ist klar, wem wie viel Zins gehört</a:t>
            </a:r>
            <a:endParaRPr lang="de-CH" dirty="0">
              <a:latin typeface="+mj-lt"/>
            </a:endParaRPr>
          </a:p>
        </p:txBody>
      </p:sp>
      <p:sp>
        <p:nvSpPr>
          <p:cNvPr id="5" name="Textfeld 2">
            <a:extLst>
              <a:ext uri="{FF2B5EF4-FFF2-40B4-BE49-F238E27FC236}">
                <a16:creationId xmlns:a16="http://schemas.microsoft.com/office/drawing/2014/main" id="{5BBD481F-0D1A-0A68-238D-EAC0896C7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608" y="1620300"/>
            <a:ext cx="11359788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de-CH" sz="500" dirty="0"/>
          </a:p>
          <a:p>
            <a:r>
              <a:rPr lang="de-CH" sz="2000" dirty="0"/>
              <a:t>Am 30. Juni 2026 verkauft Anna ihre Obligation, Nennwert CHF 10’000, zum Kurs von 90% (CHF 9’000), Zins 1.2%, Zinstermin 30. September an Elsa.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7AAB98F-24C2-6CAD-4078-732F557EF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1582" y="2755989"/>
            <a:ext cx="151846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de-CH" dirty="0"/>
              <a:t>30.09.25</a:t>
            </a:r>
          </a:p>
          <a:p>
            <a:pPr algn="ctr"/>
            <a:r>
              <a:rPr lang="de-CH" dirty="0"/>
              <a:t>Zinstermin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564970F-8553-1BAF-D0DF-177D39E39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2767658"/>
            <a:ext cx="1143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de-CH" dirty="0"/>
              <a:t>30.06.26</a:t>
            </a:r>
          </a:p>
          <a:p>
            <a:pPr algn="ctr"/>
            <a:r>
              <a:rPr lang="de-CH" dirty="0"/>
              <a:t>Verkauf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8678E07-3148-EE51-6663-00BD3BBD4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956" y="2767657"/>
            <a:ext cx="12858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de-CH" dirty="0"/>
              <a:t>30.09.26</a:t>
            </a:r>
          </a:p>
          <a:p>
            <a:pPr algn="ctr"/>
            <a:r>
              <a:rPr lang="de-CH" dirty="0"/>
              <a:t>Zinstermin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8928A8A-4A8C-BEBB-2D5D-7C8F03D7F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513" y="3528084"/>
            <a:ext cx="2446600" cy="646331"/>
          </a:xfrm>
          <a:prstGeom prst="rect">
            <a:avLst/>
          </a:prstGeom>
          <a:noFill/>
          <a:ln w="28575">
            <a:solidFill>
              <a:schemeClr val="accent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de-CH" dirty="0"/>
              <a:t>Zins CHF 120</a:t>
            </a:r>
          </a:p>
          <a:p>
            <a:pPr algn="ctr"/>
            <a:r>
              <a:rPr lang="de-CH" dirty="0"/>
              <a:t>(01.10.24-30.09.25)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9F93269-F599-46D1-94AA-7FA0608EC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482" y="5225748"/>
            <a:ext cx="1121691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de-CH" sz="2000" dirty="0"/>
              <a:t>Anna und Elsa wissen beide bei der Transaktion, dass am 30.09.26 ein Zins über CHF 120 bezahlt wird. </a:t>
            </a:r>
          </a:p>
          <a:p>
            <a:r>
              <a:rPr lang="de-CH" sz="2000" dirty="0"/>
              <a:t>Da Anna die Obligation für 9 der 12 Monate besass, erhält sie CHF 90. Diese bezahlt Elsa beim Kauf zusätzlich zum Kaufpreis von CHF 9’000. (Plus Gebühren)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7A5E062-8DDF-5CD8-C268-14DD2EEC5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984" y="3528084"/>
            <a:ext cx="2446600" cy="646331"/>
          </a:xfrm>
          <a:prstGeom prst="rect">
            <a:avLst/>
          </a:prstGeom>
          <a:noFill/>
          <a:ln w="28575">
            <a:solidFill>
              <a:schemeClr val="accent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de-CH" dirty="0"/>
              <a:t>Zins CHF 120</a:t>
            </a:r>
          </a:p>
          <a:p>
            <a:pPr algn="ctr"/>
            <a:r>
              <a:rPr lang="de-CH" dirty="0"/>
              <a:t>(01.10.25-30.09.26)</a:t>
            </a:r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8B75FD27-AA6F-0386-6CF1-D8B7B1BD1D28}"/>
              </a:ext>
            </a:extLst>
          </p:cNvPr>
          <p:cNvSpPr/>
          <p:nvPr/>
        </p:nvSpPr>
        <p:spPr>
          <a:xfrm>
            <a:off x="3367950" y="2750199"/>
            <a:ext cx="1988644" cy="6319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Anna: 9 Monate</a:t>
            </a:r>
            <a:endParaRPr lang="de-CH" dirty="0"/>
          </a:p>
        </p:txBody>
      </p:sp>
      <p:sp>
        <p:nvSpPr>
          <p:cNvPr id="21" name="Pfeil: nach rechts 20">
            <a:extLst>
              <a:ext uri="{FF2B5EF4-FFF2-40B4-BE49-F238E27FC236}">
                <a16:creationId xmlns:a16="http://schemas.microsoft.com/office/drawing/2014/main" id="{FF5163C7-3923-5B03-2B59-7DB5F6953ABF}"/>
              </a:ext>
            </a:extLst>
          </p:cNvPr>
          <p:cNvSpPr/>
          <p:nvPr/>
        </p:nvSpPr>
        <p:spPr>
          <a:xfrm>
            <a:off x="6835406" y="2770363"/>
            <a:ext cx="1988644" cy="6319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Elsa: 3 Monate</a:t>
            </a:r>
            <a:endParaRPr lang="de-CH" dirty="0"/>
          </a:p>
        </p:txBody>
      </p:sp>
      <p:sp>
        <p:nvSpPr>
          <p:cNvPr id="22" name="Pfeil: nach links 21">
            <a:extLst>
              <a:ext uri="{FF2B5EF4-FFF2-40B4-BE49-F238E27FC236}">
                <a16:creationId xmlns:a16="http://schemas.microsoft.com/office/drawing/2014/main" id="{2B5703CE-25BE-F0AC-E6A1-06ED86FB097C}"/>
              </a:ext>
            </a:extLst>
          </p:cNvPr>
          <p:cNvSpPr/>
          <p:nvPr/>
        </p:nvSpPr>
        <p:spPr>
          <a:xfrm>
            <a:off x="5524500" y="3644706"/>
            <a:ext cx="2889483" cy="448929"/>
          </a:xfrm>
          <a:prstGeom prst="leftArrow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CHF 90 gehören Anna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1720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5" grpId="0" animBg="1"/>
      <p:bldP spid="17" grpId="0"/>
      <p:bldP spid="18" grpId="0" animBg="1"/>
      <p:bldP spid="19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227FD-760B-611B-27CE-6F3D27068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2B0511FB-2FD6-E251-1E41-DDBE809B7662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16. Wertschriften – Buchführung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03F5BF4-D0CE-EA67-C1AD-40949D64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329640E-599F-7A5A-F11D-DD7CB42BD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99BF257B-7AD3-B29E-5C43-F8BDC0B02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3E4D71F-C451-108D-7FE3-0BCA37CCD1E7}"/>
              </a:ext>
            </a:extLst>
          </p:cNvPr>
          <p:cNvSpPr txBox="1"/>
          <p:nvPr/>
        </p:nvSpPr>
        <p:spPr>
          <a:xfrm>
            <a:off x="399821" y="622009"/>
            <a:ext cx="7803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Dividenden (Aktien) &amp; Zinsen (Obligation)</a:t>
            </a: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134B2AC-7D64-525A-E47C-C99CAF3A38A5}"/>
              </a:ext>
            </a:extLst>
          </p:cNvPr>
          <p:cNvSpPr txBox="1"/>
          <p:nvPr/>
        </p:nvSpPr>
        <p:spPr>
          <a:xfrm>
            <a:off x="399820" y="1116004"/>
            <a:ext cx="11359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Repetition</a:t>
            </a:r>
            <a:endParaRPr lang="de-CH" dirty="0"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84E2518-FF7A-9867-4553-5765E9BE6348}"/>
              </a:ext>
            </a:extLst>
          </p:cNvPr>
          <p:cNvSpPr txBox="1"/>
          <p:nvPr/>
        </p:nvSpPr>
        <p:spPr>
          <a:xfrm>
            <a:off x="2617044" y="1756250"/>
            <a:ext cx="6863024" cy="3139321"/>
          </a:xfrm>
          <a:prstGeom prst="rect">
            <a:avLst/>
          </a:prstGeom>
          <a:noFill/>
          <a:ln w="825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de-CH" sz="2000" b="1" dirty="0"/>
              <a:t>Wichtige Regeln </a:t>
            </a:r>
            <a:r>
              <a:rPr lang="de-CH" sz="2000" dirty="0"/>
              <a:t>(Deutsche Zins-Usanz)</a:t>
            </a:r>
            <a:r>
              <a:rPr lang="de-CH" sz="2000" b="1" dirty="0"/>
              <a:t>:</a:t>
            </a:r>
            <a:br>
              <a:rPr lang="de-CH" sz="2000" b="1" dirty="0"/>
            </a:br>
            <a:endParaRPr lang="de-CH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CH" sz="2000" dirty="0"/>
              <a:t>1 Monat	= 30 Tage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CH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CH" sz="2000" dirty="0"/>
              <a:t>1 Jahr		= 12 Monate = 360 Tage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de-CH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CH" sz="2000" dirty="0"/>
              <a:t>Der letzte Tag eines Monats	= der 30. Tag</a:t>
            </a:r>
            <a:endParaRPr lang="en-CH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CH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H" sz="2000" dirty="0"/>
              <a:t>t = </a:t>
            </a:r>
            <a:r>
              <a:rPr lang="en-CH" sz="2000" dirty="0" err="1"/>
              <a:t>letzter</a:t>
            </a:r>
            <a:r>
              <a:rPr lang="en-CH" sz="2000" dirty="0"/>
              <a:t> Tag – </a:t>
            </a:r>
            <a:r>
              <a:rPr lang="en-CH" sz="2000" dirty="0" err="1"/>
              <a:t>erster</a:t>
            </a:r>
            <a:r>
              <a:rPr lang="en-CH" sz="2000" dirty="0"/>
              <a:t> Tag (</a:t>
            </a:r>
            <a:r>
              <a:rPr lang="en-CH" sz="2000" dirty="0" err="1"/>
              <a:t>bzw</a:t>
            </a:r>
            <a:r>
              <a:rPr lang="en-CH" sz="2000" dirty="0"/>
              <a:t>. “</a:t>
            </a:r>
            <a:r>
              <a:rPr lang="en-CH" sz="2000" dirty="0" err="1"/>
              <a:t>wie</a:t>
            </a:r>
            <a:r>
              <a:rPr lang="en-CH" sz="2000" dirty="0"/>
              <a:t> </a:t>
            </a:r>
            <a:r>
              <a:rPr lang="en-CH" sz="2000" dirty="0" err="1"/>
              <a:t>viel</a:t>
            </a:r>
            <a:r>
              <a:rPr lang="en-CH" sz="2000" dirty="0"/>
              <a:t> Mal </a:t>
            </a:r>
            <a:r>
              <a:rPr lang="en-CH" sz="2000" dirty="0" err="1"/>
              <a:t>schlafen</a:t>
            </a:r>
            <a:r>
              <a:rPr lang="en-CH" sz="2000" dirty="0"/>
              <a:t>”)</a:t>
            </a:r>
            <a:endParaRPr lang="de-CH" sz="2000" dirty="0"/>
          </a:p>
          <a:p>
            <a:endParaRPr lang="de-CH" dirty="0"/>
          </a:p>
        </p:txBody>
      </p:sp>
      <p:pic>
        <p:nvPicPr>
          <p:cNvPr id="13" name="Grafik 12" descr="Nach rechts zeigender Finger, Handrücken mit einfarbiger Füllung">
            <a:extLst>
              <a:ext uri="{FF2B5EF4-FFF2-40B4-BE49-F238E27FC236}">
                <a16:creationId xmlns:a16="http://schemas.microsoft.com/office/drawing/2014/main" id="{FEC5057C-2454-CB6F-8DD2-D1D1E278DF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9949" y="1829616"/>
            <a:ext cx="1492180" cy="149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7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6E9AF-0592-7256-F0DF-FFF6CB6D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1AB332D2-B83B-A9F5-E514-E21E05312668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16. Wertschriften – Buchführung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23334D0-B2BC-F8B8-C176-A3B0AD8693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2E8149-4966-A93C-2838-3DBBA431A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85D90684-6DC4-3054-F3EE-48B76B779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04F4B88-1DCC-8F1F-CDC6-067462C73F50}"/>
              </a:ext>
            </a:extLst>
          </p:cNvPr>
          <p:cNvSpPr txBox="1"/>
          <p:nvPr/>
        </p:nvSpPr>
        <p:spPr>
          <a:xfrm>
            <a:off x="399821" y="622009"/>
            <a:ext cx="7803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Dividenden (Aktien) &amp; Zinsen (Obligation)</a:t>
            </a: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62A8C03-F076-3A82-3994-0D4CA65DA847}"/>
              </a:ext>
            </a:extLst>
          </p:cNvPr>
          <p:cNvSpPr txBox="1"/>
          <p:nvPr/>
        </p:nvSpPr>
        <p:spPr>
          <a:xfrm>
            <a:off x="399820" y="1116004"/>
            <a:ext cx="11359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Die Verrechnungssteuer von 35% nicht vergessen! </a:t>
            </a:r>
            <a:r>
              <a:rPr lang="de-DE" dirty="0">
                <a:sym typeface="Wingdings" panose="05000000000000000000" pitchFamily="2" charset="2"/>
              </a:rPr>
              <a:t> Repetition</a:t>
            </a:r>
            <a:endParaRPr lang="de-CH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CA0711B-4035-660D-76F1-12115F472BCE}"/>
              </a:ext>
            </a:extLst>
          </p:cNvPr>
          <p:cNvSpPr txBox="1"/>
          <p:nvPr/>
        </p:nvSpPr>
        <p:spPr>
          <a:xfrm>
            <a:off x="399820" y="2088867"/>
            <a:ext cx="687242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1">
              <a:buClr>
                <a:schemeClr val="accent2"/>
              </a:buClr>
            </a:pPr>
            <a:r>
              <a:rPr lang="de-CH" dirty="0">
                <a:solidFill>
                  <a:srgbClr val="1F1F1F"/>
                </a:solidFill>
                <a:latin typeface="Google Sans"/>
              </a:rPr>
              <a:t>Nettomethode (gemäss Auszug Bank):</a:t>
            </a:r>
          </a:p>
          <a:p>
            <a:pPr lvl="1">
              <a:buClr>
                <a:schemeClr val="accent2"/>
              </a:buClr>
            </a:pPr>
            <a:endParaRPr lang="de-CH" dirty="0">
              <a:solidFill>
                <a:srgbClr val="1F1F1F"/>
              </a:solidFill>
              <a:latin typeface="Google Sans"/>
            </a:endParaRPr>
          </a:p>
          <a:p>
            <a:pPr lvl="1">
              <a:buClr>
                <a:schemeClr val="accent2"/>
              </a:buClr>
            </a:pPr>
            <a:r>
              <a:rPr lang="de-CH" dirty="0">
                <a:solidFill>
                  <a:srgbClr val="1F1F1F"/>
                </a:solidFill>
                <a:latin typeface="Google Sans"/>
              </a:rPr>
              <a:t>Bankguthaben 	/ Finanz E	 		</a:t>
            </a:r>
            <a:r>
              <a:rPr lang="de-DE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58.50	(65%)</a:t>
            </a:r>
          </a:p>
          <a:p>
            <a:pPr lvl="1">
              <a:buClr>
                <a:schemeClr val="accent2"/>
              </a:buClr>
            </a:pP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(Guthaben) VST	/ Finanz E			</a:t>
            </a:r>
            <a:r>
              <a:rPr lang="de-DE" altLang="de-DE" dirty="0">
                <a:solidFill>
                  <a:srgbClr val="000000"/>
                </a:solidFill>
                <a:latin typeface="+mj-lt"/>
              </a:rPr>
              <a:t>31.50 	(35%)</a:t>
            </a:r>
          </a:p>
          <a:p>
            <a:pPr lvl="1">
              <a:buClr>
                <a:schemeClr val="accent2"/>
              </a:buClr>
            </a:pPr>
            <a:endParaRPr lang="de-DE" dirty="0">
              <a:solidFill>
                <a:srgbClr val="000000"/>
              </a:solidFill>
              <a:latin typeface="+mj-lt"/>
            </a:endParaRPr>
          </a:p>
          <a:p>
            <a:pPr lvl="1">
              <a:buClr>
                <a:schemeClr val="accent2"/>
              </a:buClr>
            </a:pPr>
            <a:r>
              <a:rPr lang="de-DE" dirty="0">
                <a:solidFill>
                  <a:srgbClr val="000000"/>
                </a:solidFill>
                <a:latin typeface="+mj-lt"/>
              </a:rPr>
              <a:t>Bankguthaben 	/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(Guthaben) VST 	31.50</a:t>
            </a:r>
            <a:r>
              <a:rPr lang="de-CH" dirty="0">
                <a:solidFill>
                  <a:srgbClr val="1F1F1F"/>
                </a:solidFill>
                <a:latin typeface="Google Sans"/>
              </a:rPr>
              <a:t>	(Rückvergütung)</a:t>
            </a:r>
          </a:p>
        </p:txBody>
      </p:sp>
    </p:spTree>
    <p:extLst>
      <p:ext uri="{BB962C8B-B14F-4D97-AF65-F5344CB8AC3E}">
        <p14:creationId xmlns:p14="http://schemas.microsoft.com/office/powerpoint/2010/main" val="211417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2E16-4268-C5F4-F95A-F9AA3B202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20DE38C4-EAB0-8B39-C359-E6041AE3C9C1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Buchführung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81D5B5E-0B18-E376-EFED-50397E16F6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5A8BA35-BF7A-8312-966D-32EE704FC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122B8108-28BC-529F-6FB2-AA688D508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7068F8-523A-5832-AFD8-D4A57D8955AD}"/>
              </a:ext>
            </a:extLst>
          </p:cNvPr>
          <p:cNvSpPr txBox="1"/>
          <p:nvPr/>
        </p:nvSpPr>
        <p:spPr>
          <a:xfrm>
            <a:off x="399821" y="622009"/>
            <a:ext cx="7803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ACHTUNG: Obligationen – Zins abgrenzen </a:t>
            </a: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B131445-433D-0290-C32A-501D0410CF19}"/>
              </a:ext>
            </a:extLst>
          </p:cNvPr>
          <p:cNvSpPr txBox="1"/>
          <p:nvPr/>
        </p:nvSpPr>
        <p:spPr>
          <a:xfrm>
            <a:off x="399820" y="1116004"/>
            <a:ext cx="11359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Am 31.12. wissen wir, wie viel Zins wir wann erhalten werden.</a:t>
            </a:r>
            <a:endParaRPr lang="de-CH" dirty="0">
              <a:latin typeface="+mj-lt"/>
            </a:endParaRPr>
          </a:p>
        </p:txBody>
      </p:sp>
      <p:sp>
        <p:nvSpPr>
          <p:cNvPr id="5" name="Textfeld 2">
            <a:extLst>
              <a:ext uri="{FF2B5EF4-FFF2-40B4-BE49-F238E27FC236}">
                <a16:creationId xmlns:a16="http://schemas.microsoft.com/office/drawing/2014/main" id="{469E9625-6FCC-955F-DDD6-A461FFFFA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608" y="1620300"/>
            <a:ext cx="11359788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de-CH" sz="500" dirty="0"/>
          </a:p>
          <a:p>
            <a:r>
              <a:rPr lang="de-CH" sz="2000" dirty="0"/>
              <a:t>Die Max AG hat 1.2%-Obligationen des Kanton Zürichs, Nennwert CHF 1’000, Zinstermin 30. April.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E980F49-4ACD-19B8-5013-44632C539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422" y="2431697"/>
            <a:ext cx="151846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de-CH" dirty="0"/>
              <a:t>30.04.25</a:t>
            </a:r>
          </a:p>
          <a:p>
            <a:pPr algn="ctr"/>
            <a:r>
              <a:rPr lang="de-CH" dirty="0"/>
              <a:t>Zinstermin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907A9D8-4584-A049-5DE4-6139957A9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594" y="2443366"/>
            <a:ext cx="184081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de-CH" dirty="0"/>
              <a:t>31.12.25</a:t>
            </a:r>
          </a:p>
          <a:p>
            <a:pPr algn="ctr"/>
            <a:r>
              <a:rPr lang="de-CH" dirty="0"/>
              <a:t>Jahresabschluss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F46E1F5-4706-90E1-F07C-7287A8E73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1064" y="2443365"/>
            <a:ext cx="12858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de-CH" dirty="0"/>
              <a:t>30.04.26</a:t>
            </a:r>
          </a:p>
          <a:p>
            <a:pPr algn="ctr"/>
            <a:r>
              <a:rPr lang="de-CH" dirty="0"/>
              <a:t>Zinstermin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17E8197-B180-8D81-19BB-EF850E5D1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513" y="3203792"/>
            <a:ext cx="2446600" cy="646331"/>
          </a:xfrm>
          <a:prstGeom prst="rect">
            <a:avLst/>
          </a:prstGeom>
          <a:noFill/>
          <a:ln w="28575">
            <a:solidFill>
              <a:schemeClr val="accent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de-CH" dirty="0"/>
              <a:t>Zins CHF 12</a:t>
            </a:r>
          </a:p>
          <a:p>
            <a:pPr algn="ctr"/>
            <a:r>
              <a:rPr lang="de-CH" dirty="0"/>
              <a:t>(01.10.24-30.09.25)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BD6A51D-4071-207B-CCA5-DEEF1E3A8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984" y="3203792"/>
            <a:ext cx="2446600" cy="646331"/>
          </a:xfrm>
          <a:prstGeom prst="rect">
            <a:avLst/>
          </a:prstGeom>
          <a:noFill/>
          <a:ln w="28575">
            <a:solidFill>
              <a:schemeClr val="accent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de-CH" dirty="0"/>
              <a:t>Zins CHF 12</a:t>
            </a:r>
          </a:p>
          <a:p>
            <a:pPr algn="ctr"/>
            <a:r>
              <a:rPr lang="de-CH" dirty="0"/>
              <a:t>(01.10.25-30.09.26)</a:t>
            </a:r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2F6EF708-7327-FCFE-2D08-1342F9072F9F}"/>
              </a:ext>
            </a:extLst>
          </p:cNvPr>
          <p:cNvSpPr/>
          <p:nvPr/>
        </p:nvSpPr>
        <p:spPr>
          <a:xfrm>
            <a:off x="3405183" y="2425907"/>
            <a:ext cx="1807858" cy="6319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8 Monate</a:t>
            </a:r>
            <a:endParaRPr lang="de-CH" dirty="0"/>
          </a:p>
        </p:txBody>
      </p:sp>
      <p:sp>
        <p:nvSpPr>
          <p:cNvPr id="21" name="Pfeil: nach rechts 20">
            <a:extLst>
              <a:ext uri="{FF2B5EF4-FFF2-40B4-BE49-F238E27FC236}">
                <a16:creationId xmlns:a16="http://schemas.microsoft.com/office/drawing/2014/main" id="{B1F5864B-93C3-CA4B-3005-BEDF119E4E20}"/>
              </a:ext>
            </a:extLst>
          </p:cNvPr>
          <p:cNvSpPr/>
          <p:nvPr/>
        </p:nvSpPr>
        <p:spPr>
          <a:xfrm>
            <a:off x="6994907" y="2446071"/>
            <a:ext cx="1807858" cy="6319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4 Monate</a:t>
            </a:r>
            <a:endParaRPr lang="de-CH" dirty="0"/>
          </a:p>
        </p:txBody>
      </p:sp>
      <p:sp>
        <p:nvSpPr>
          <p:cNvPr id="22" name="Pfeil: nach links 21">
            <a:extLst>
              <a:ext uri="{FF2B5EF4-FFF2-40B4-BE49-F238E27FC236}">
                <a16:creationId xmlns:a16="http://schemas.microsoft.com/office/drawing/2014/main" id="{F970FBE3-346E-FAA9-694B-0242EE199B4E}"/>
              </a:ext>
            </a:extLst>
          </p:cNvPr>
          <p:cNvSpPr/>
          <p:nvPr/>
        </p:nvSpPr>
        <p:spPr>
          <a:xfrm>
            <a:off x="5434524" y="3320414"/>
            <a:ext cx="2979459" cy="448929"/>
          </a:xfrm>
          <a:prstGeom prst="leftArrow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CHF 8 gehören ins Jahr 2025</a:t>
            </a:r>
            <a:endParaRPr lang="de-CH" dirty="0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3D34B853-92E9-A979-4435-884925CA0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500284"/>
              </p:ext>
            </p:extLst>
          </p:nvPr>
        </p:nvGraphicFramePr>
        <p:xfrm>
          <a:off x="758628" y="4447197"/>
          <a:ext cx="797602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521">
                  <a:extLst>
                    <a:ext uri="{9D8B030D-6E8A-4147-A177-3AD203B41FA5}">
                      <a16:colId xmlns:a16="http://schemas.microsoft.com/office/drawing/2014/main" val="1887034617"/>
                    </a:ext>
                  </a:extLst>
                </a:gridCol>
                <a:gridCol w="1900570">
                  <a:extLst>
                    <a:ext uri="{9D8B030D-6E8A-4147-A177-3AD203B41FA5}">
                      <a16:colId xmlns:a16="http://schemas.microsoft.com/office/drawing/2014/main" val="868779278"/>
                    </a:ext>
                  </a:extLst>
                </a:gridCol>
                <a:gridCol w="1900570">
                  <a:extLst>
                    <a:ext uri="{9D8B030D-6E8A-4147-A177-3AD203B41FA5}">
                      <a16:colId xmlns:a16="http://schemas.microsoft.com/office/drawing/2014/main" val="389724268"/>
                    </a:ext>
                  </a:extLst>
                </a:gridCol>
                <a:gridCol w="1031360">
                  <a:extLst>
                    <a:ext uri="{9D8B030D-6E8A-4147-A177-3AD203B41FA5}">
                      <a16:colId xmlns:a16="http://schemas.microsoft.com/office/drawing/2014/main" val="447750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Soll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Haben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CH" dirty="0"/>
                        <a:t>Betrag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739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31.12.25 Abgrenzung Zins</a:t>
                      </a:r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/>
                      <a:endParaRPr lang="de-CH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36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/>
                      <a:endParaRPr lang="de-CH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670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/>
                      <a:endParaRPr lang="de-CH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36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CH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de-CH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r" defTabSz="457200" rtl="0" eaLnBrk="1" latinLnBrk="0" hangingPunct="1"/>
                      <a:endParaRPr lang="de-CH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631357"/>
                  </a:ext>
                </a:extLst>
              </a:tr>
            </a:tbl>
          </a:graphicData>
        </a:graphic>
      </p:graphicFrame>
      <p:sp>
        <p:nvSpPr>
          <p:cNvPr id="13" name="Textfeld 12">
            <a:extLst>
              <a:ext uri="{FF2B5EF4-FFF2-40B4-BE49-F238E27FC236}">
                <a16:creationId xmlns:a16="http://schemas.microsoft.com/office/drawing/2014/main" id="{90CDC985-F57E-3812-E819-85CE5B2424A2}"/>
              </a:ext>
            </a:extLst>
          </p:cNvPr>
          <p:cNvSpPr txBox="1"/>
          <p:nvPr/>
        </p:nvSpPr>
        <p:spPr>
          <a:xfrm>
            <a:off x="3925879" y="4819164"/>
            <a:ext cx="1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aRA</a:t>
            </a:r>
            <a:endParaRPr lang="de-CH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5B9BB1B-3BDD-8053-9C02-6D3338CDD295}"/>
              </a:ext>
            </a:extLst>
          </p:cNvPr>
          <p:cNvSpPr txBox="1"/>
          <p:nvPr/>
        </p:nvSpPr>
        <p:spPr>
          <a:xfrm>
            <a:off x="5871469" y="4819164"/>
            <a:ext cx="176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Finanz E</a:t>
            </a:r>
            <a:endParaRPr lang="de-CH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AC944CA-0AED-5A36-9BC7-71B17FBE0029}"/>
              </a:ext>
            </a:extLst>
          </p:cNvPr>
          <p:cNvSpPr txBox="1"/>
          <p:nvPr/>
        </p:nvSpPr>
        <p:spPr>
          <a:xfrm>
            <a:off x="7734338" y="4844426"/>
            <a:ext cx="899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8</a:t>
            </a:r>
            <a:endParaRPr lang="de-CH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C5E789EB-1391-6FBD-8F7F-FFE8318E1D1C}"/>
              </a:ext>
            </a:extLst>
          </p:cNvPr>
          <p:cNvSpPr txBox="1"/>
          <p:nvPr/>
        </p:nvSpPr>
        <p:spPr>
          <a:xfrm>
            <a:off x="3925879" y="5193966"/>
            <a:ext cx="1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Finanz E</a:t>
            </a:r>
            <a:endParaRPr lang="de-CH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ED943D0-51A6-EC9D-B14B-FF0CB25461E0}"/>
              </a:ext>
            </a:extLst>
          </p:cNvPr>
          <p:cNvSpPr txBox="1"/>
          <p:nvPr/>
        </p:nvSpPr>
        <p:spPr>
          <a:xfrm>
            <a:off x="5871469" y="5193966"/>
            <a:ext cx="176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aRA</a:t>
            </a:r>
            <a:endParaRPr lang="de-CH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C90711D-8DFF-A065-1800-84DEEDD6FC84}"/>
              </a:ext>
            </a:extLst>
          </p:cNvPr>
          <p:cNvSpPr txBox="1"/>
          <p:nvPr/>
        </p:nvSpPr>
        <p:spPr>
          <a:xfrm>
            <a:off x="7734338" y="5187332"/>
            <a:ext cx="899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8</a:t>
            </a:r>
            <a:endParaRPr lang="de-CH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391C8A16-CAF1-782F-DF2F-F8EB3850A380}"/>
              </a:ext>
            </a:extLst>
          </p:cNvPr>
          <p:cNvSpPr txBox="1"/>
          <p:nvPr/>
        </p:nvSpPr>
        <p:spPr>
          <a:xfrm>
            <a:off x="3920541" y="5546032"/>
            <a:ext cx="1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BaG</a:t>
            </a:r>
            <a:endParaRPr lang="de-CH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4F9762A9-76C2-3A77-4FB2-F22F68C1DE04}"/>
              </a:ext>
            </a:extLst>
          </p:cNvPr>
          <p:cNvSpPr txBox="1"/>
          <p:nvPr/>
        </p:nvSpPr>
        <p:spPr>
          <a:xfrm>
            <a:off x="5866131" y="5546032"/>
            <a:ext cx="176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Finanz E</a:t>
            </a:r>
            <a:endParaRPr lang="de-CH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DD48A9B-C86E-EBC8-8AFA-8479D468EDD6}"/>
              </a:ext>
            </a:extLst>
          </p:cNvPr>
          <p:cNvSpPr txBox="1"/>
          <p:nvPr/>
        </p:nvSpPr>
        <p:spPr>
          <a:xfrm>
            <a:off x="7729000" y="5571294"/>
            <a:ext cx="899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7.8</a:t>
            </a:r>
            <a:endParaRPr lang="de-CH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8D426C5-DE78-826C-4E52-F7F6388B007C}"/>
              </a:ext>
            </a:extLst>
          </p:cNvPr>
          <p:cNvSpPr txBox="1"/>
          <p:nvPr/>
        </p:nvSpPr>
        <p:spPr>
          <a:xfrm>
            <a:off x="3920541" y="5934520"/>
            <a:ext cx="1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Guthaben VST</a:t>
            </a:r>
            <a:endParaRPr lang="de-CH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9D9A037-8B89-3C2E-6E6C-ECDBE743B9AC}"/>
              </a:ext>
            </a:extLst>
          </p:cNvPr>
          <p:cNvSpPr txBox="1"/>
          <p:nvPr/>
        </p:nvSpPr>
        <p:spPr>
          <a:xfrm>
            <a:off x="5866131" y="5934520"/>
            <a:ext cx="176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Finanz E</a:t>
            </a:r>
            <a:endParaRPr lang="de-CH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F7AB7B8D-28C1-D640-D7F2-64F015E06148}"/>
              </a:ext>
            </a:extLst>
          </p:cNvPr>
          <p:cNvSpPr txBox="1"/>
          <p:nvPr/>
        </p:nvSpPr>
        <p:spPr>
          <a:xfrm>
            <a:off x="7729000" y="5959782"/>
            <a:ext cx="899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4.2</a:t>
            </a:r>
            <a:endParaRPr lang="de-CH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7557518A-DC66-4C08-0210-90FA7D1B6BF5}"/>
              </a:ext>
            </a:extLst>
          </p:cNvPr>
          <p:cNvSpPr txBox="1"/>
          <p:nvPr/>
        </p:nvSpPr>
        <p:spPr>
          <a:xfrm>
            <a:off x="731757" y="5193966"/>
            <a:ext cx="2343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01.01.26 Rückbuchung</a:t>
            </a:r>
            <a:endParaRPr lang="de-CH" sz="1800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D9CDE20A-3A93-3751-53DB-09C3CA883386}"/>
              </a:ext>
            </a:extLst>
          </p:cNvPr>
          <p:cNvSpPr txBox="1"/>
          <p:nvPr/>
        </p:nvSpPr>
        <p:spPr>
          <a:xfrm>
            <a:off x="758628" y="5572617"/>
            <a:ext cx="1873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00" dirty="0"/>
              <a:t>30.04. Erhalt Zins</a:t>
            </a:r>
            <a:endParaRPr lang="de-CH" sz="1800" dirty="0"/>
          </a:p>
        </p:txBody>
      </p:sp>
    </p:spTree>
    <p:extLst>
      <p:ext uri="{BB962C8B-B14F-4D97-AF65-F5344CB8AC3E}">
        <p14:creationId xmlns:p14="http://schemas.microsoft.com/office/powerpoint/2010/main" val="332136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5" grpId="0" animBg="1"/>
      <p:bldP spid="18" grpId="0" animBg="1"/>
      <p:bldP spid="19" grpId="0" animBg="1"/>
      <p:bldP spid="21" grpId="0" animBg="1"/>
      <p:bldP spid="22" grpId="0" animBg="1"/>
      <p:bldP spid="13" grpId="0"/>
      <p:bldP spid="14" grpId="0"/>
      <p:bldP spid="16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5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438D2-F000-FC9E-594F-43B0C9846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C50B157D-C75F-401F-675C-006A6FB4043D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16. Wertschriften – Buchführung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9D316EF-0F43-3D22-4903-9CABEF27FD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3F796FB-E5B5-0BFC-FB5C-8AC9A85E5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B190B0E4-20C2-0A01-3B0F-45E6CE9C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59AA401-A626-EFE2-B162-8A2B55ED9AD3}"/>
              </a:ext>
            </a:extLst>
          </p:cNvPr>
          <p:cNvSpPr txBox="1"/>
          <p:nvPr/>
        </p:nvSpPr>
        <p:spPr>
          <a:xfrm>
            <a:off x="399821" y="622009"/>
            <a:ext cx="7803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Kursdifferenzen</a:t>
            </a: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426B14F-91D3-A594-2EAE-0D3BB19C3E18}"/>
              </a:ext>
            </a:extLst>
          </p:cNvPr>
          <p:cNvSpPr txBox="1"/>
          <p:nvPr/>
        </p:nvSpPr>
        <p:spPr>
          <a:xfrm>
            <a:off x="399820" y="1116004"/>
            <a:ext cx="113597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Alls kotierten Wertschriften unterliegen Kursschwankungen (vgl. Kap. 15 Bewertungen).</a:t>
            </a:r>
          </a:p>
          <a:p>
            <a:endParaRPr lang="de-DE" sz="400" dirty="0"/>
          </a:p>
          <a:p>
            <a:r>
              <a:rPr lang="de-DE" dirty="0"/>
              <a:t> Wie verbuchen wir diese? </a:t>
            </a:r>
            <a:endParaRPr lang="de-CH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F074605-DCA8-9178-17D0-8A9893A8D6A8}"/>
              </a:ext>
            </a:extLst>
          </p:cNvPr>
          <p:cNvSpPr txBox="1"/>
          <p:nvPr/>
        </p:nvSpPr>
        <p:spPr>
          <a:xfrm>
            <a:off x="399820" y="1902797"/>
            <a:ext cx="3805357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1">
              <a:buClr>
                <a:schemeClr val="accent2"/>
              </a:buClr>
            </a:pPr>
            <a:r>
              <a:rPr lang="de-CH" dirty="0">
                <a:solidFill>
                  <a:srgbClr val="1F1F1F"/>
                </a:solidFill>
                <a:latin typeface="Google Sans"/>
              </a:rPr>
              <a:t>Kurs</a:t>
            </a:r>
            <a:r>
              <a:rPr lang="de-CH" b="1" dirty="0">
                <a:solidFill>
                  <a:srgbClr val="1F1F1F"/>
                </a:solidFill>
                <a:latin typeface="Google Sans"/>
              </a:rPr>
              <a:t>gewinne </a:t>
            </a:r>
            <a:r>
              <a:rPr lang="de-CH" dirty="0">
                <a:solidFill>
                  <a:srgbClr val="1F1F1F"/>
                </a:solidFill>
                <a:latin typeface="Google Sans"/>
              </a:rPr>
              <a:t>(Kurs ↑): </a:t>
            </a:r>
          </a:p>
          <a:p>
            <a:pPr lvl="1">
              <a:buClr>
                <a:schemeClr val="accent2"/>
              </a:buClr>
            </a:pPr>
            <a:endParaRPr lang="de-CH" dirty="0">
              <a:solidFill>
                <a:srgbClr val="1F1F1F"/>
              </a:solidFill>
              <a:latin typeface="Google Sans"/>
            </a:endParaRPr>
          </a:p>
          <a:p>
            <a:pPr lvl="1">
              <a:buClr>
                <a:schemeClr val="accent2"/>
              </a:buClr>
            </a:pPr>
            <a:r>
              <a:rPr lang="de-CH" dirty="0">
                <a:solidFill>
                  <a:srgbClr val="1F1F1F"/>
                </a:solidFill>
                <a:latin typeface="Google Sans"/>
              </a:rPr>
              <a:t>WS	/ Finanz </a:t>
            </a:r>
            <a:r>
              <a:rPr lang="de-CH" dirty="0">
                <a:solidFill>
                  <a:srgbClr val="1F1F1F"/>
                </a:solidFill>
                <a:highlight>
                  <a:srgbClr val="FFFF00"/>
                </a:highlight>
                <a:latin typeface="Google Sans"/>
              </a:rPr>
              <a:t>E</a:t>
            </a:r>
            <a:r>
              <a:rPr lang="de-CH" dirty="0">
                <a:solidFill>
                  <a:srgbClr val="1F1F1F"/>
                </a:solidFill>
                <a:latin typeface="Google Sans"/>
              </a:rPr>
              <a:t>	 		</a:t>
            </a:r>
            <a:endParaRPr lang="de-DE" sz="18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5DA1B95-FC0B-ED2E-DF78-3B46FE36A29E}"/>
              </a:ext>
            </a:extLst>
          </p:cNvPr>
          <p:cNvSpPr txBox="1"/>
          <p:nvPr/>
        </p:nvSpPr>
        <p:spPr>
          <a:xfrm>
            <a:off x="5028527" y="1902797"/>
            <a:ext cx="3805357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1">
              <a:buClr>
                <a:schemeClr val="accent2"/>
              </a:buClr>
            </a:pPr>
            <a:r>
              <a:rPr lang="de-CH" dirty="0">
                <a:solidFill>
                  <a:srgbClr val="1F1F1F"/>
                </a:solidFill>
                <a:latin typeface="Google Sans"/>
              </a:rPr>
              <a:t>Kurs</a:t>
            </a:r>
            <a:r>
              <a:rPr lang="de-CH" b="1" dirty="0">
                <a:solidFill>
                  <a:srgbClr val="1F1F1F"/>
                </a:solidFill>
                <a:latin typeface="Google Sans"/>
              </a:rPr>
              <a:t>verluste </a:t>
            </a:r>
            <a:r>
              <a:rPr lang="de-CH" dirty="0">
                <a:solidFill>
                  <a:srgbClr val="1F1F1F"/>
                </a:solidFill>
                <a:latin typeface="Google Sans"/>
              </a:rPr>
              <a:t>(Kurs ↓): </a:t>
            </a:r>
          </a:p>
          <a:p>
            <a:pPr lvl="1">
              <a:buClr>
                <a:schemeClr val="accent2"/>
              </a:buClr>
            </a:pPr>
            <a:endParaRPr lang="de-CH" dirty="0">
              <a:solidFill>
                <a:srgbClr val="1F1F1F"/>
              </a:solidFill>
              <a:latin typeface="Google Sans"/>
            </a:endParaRPr>
          </a:p>
          <a:p>
            <a:pPr lvl="1">
              <a:buClr>
                <a:schemeClr val="accent2"/>
              </a:buClr>
            </a:pPr>
            <a:r>
              <a:rPr lang="de-CH" dirty="0">
                <a:solidFill>
                  <a:srgbClr val="1F1F1F"/>
                </a:solidFill>
                <a:latin typeface="Google Sans"/>
              </a:rPr>
              <a:t>Finanz </a:t>
            </a:r>
            <a:r>
              <a:rPr lang="de-CH" dirty="0">
                <a:solidFill>
                  <a:srgbClr val="1F1F1F"/>
                </a:solidFill>
                <a:highlight>
                  <a:srgbClr val="FFFF00"/>
                </a:highlight>
                <a:latin typeface="Google Sans"/>
              </a:rPr>
              <a:t>A</a:t>
            </a:r>
            <a:r>
              <a:rPr lang="de-CH" dirty="0">
                <a:solidFill>
                  <a:srgbClr val="1F1F1F"/>
                </a:solidFill>
                <a:latin typeface="Google Sans"/>
              </a:rPr>
              <a:t>	/ WS	 		</a:t>
            </a:r>
            <a:endParaRPr lang="de-DE" sz="18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3F5A0AC-2CE2-3127-231F-ED728C7DF8D4}"/>
              </a:ext>
            </a:extLst>
          </p:cNvPr>
          <p:cNvSpPr txBox="1"/>
          <p:nvPr/>
        </p:nvSpPr>
        <p:spPr>
          <a:xfrm>
            <a:off x="399820" y="4889361"/>
            <a:ext cx="7803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Gebühren (für Käufer &amp; Verkäufer!)</a:t>
            </a: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44419ED-58D6-BADB-DD43-01B3D9A8C708}"/>
              </a:ext>
            </a:extLst>
          </p:cNvPr>
          <p:cNvSpPr txBox="1"/>
          <p:nvPr/>
        </p:nvSpPr>
        <p:spPr>
          <a:xfrm>
            <a:off x="399820" y="5340676"/>
            <a:ext cx="11359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 Wie verbuchen wir diese? </a:t>
            </a:r>
            <a:endParaRPr lang="de-CH" dirty="0">
              <a:latin typeface="+mj-lt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C0BDAFB-20E2-D6A8-ED47-E35C60BF0862}"/>
              </a:ext>
            </a:extLst>
          </p:cNvPr>
          <p:cNvSpPr txBox="1"/>
          <p:nvPr/>
        </p:nvSpPr>
        <p:spPr>
          <a:xfrm>
            <a:off x="399820" y="5946717"/>
            <a:ext cx="380535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1">
              <a:buClr>
                <a:schemeClr val="accent2"/>
              </a:buClr>
            </a:pPr>
            <a:r>
              <a:rPr lang="de-CH" dirty="0">
                <a:solidFill>
                  <a:srgbClr val="1F1F1F"/>
                </a:solidFill>
                <a:latin typeface="Google Sans"/>
              </a:rPr>
              <a:t>Finanz </a:t>
            </a:r>
            <a:r>
              <a:rPr lang="de-CH" dirty="0">
                <a:solidFill>
                  <a:srgbClr val="1F1F1F"/>
                </a:solidFill>
                <a:highlight>
                  <a:srgbClr val="FFFF00"/>
                </a:highlight>
                <a:latin typeface="Google Sans"/>
              </a:rPr>
              <a:t>A</a:t>
            </a:r>
            <a:r>
              <a:rPr lang="de-CH" dirty="0">
                <a:solidFill>
                  <a:srgbClr val="1F1F1F"/>
                </a:solidFill>
                <a:latin typeface="Google Sans"/>
              </a:rPr>
              <a:t> / BaG</a:t>
            </a:r>
            <a:endParaRPr lang="de-DE" sz="18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8AFD10B-44EE-F91D-90E0-F92B80E8B1CC}"/>
              </a:ext>
            </a:extLst>
          </p:cNvPr>
          <p:cNvSpPr txBox="1"/>
          <p:nvPr/>
        </p:nvSpPr>
        <p:spPr>
          <a:xfrm>
            <a:off x="399820" y="3227693"/>
            <a:ext cx="6941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Realisierte</a:t>
            </a:r>
            <a:r>
              <a:rPr lang="de-DE" dirty="0"/>
              <a:t> Kursdifferenz: beim </a:t>
            </a:r>
            <a:r>
              <a:rPr lang="de-DE" b="1" dirty="0"/>
              <a:t>Verkauf</a:t>
            </a:r>
            <a:r>
              <a:rPr lang="de-DE" dirty="0"/>
              <a:t> (Gewissheit) </a:t>
            </a:r>
            <a:endParaRPr lang="de-CH" dirty="0">
              <a:latin typeface="+mj-lt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A252215-B1EC-1597-364B-29DF987F52E8}"/>
              </a:ext>
            </a:extLst>
          </p:cNvPr>
          <p:cNvSpPr txBox="1"/>
          <p:nvPr/>
        </p:nvSpPr>
        <p:spPr>
          <a:xfrm>
            <a:off x="399820" y="3782029"/>
            <a:ext cx="6941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NICHT realisierte</a:t>
            </a:r>
            <a:r>
              <a:rPr lang="de-DE" dirty="0"/>
              <a:t> Kursdifferenz: beim </a:t>
            </a:r>
            <a:r>
              <a:rPr lang="de-DE" b="1" dirty="0"/>
              <a:t>Halten </a:t>
            </a:r>
            <a:r>
              <a:rPr lang="de-DE" b="1" dirty="0">
                <a:sym typeface="Wingdings" panose="05000000000000000000" pitchFamily="2" charset="2"/>
              </a:rPr>
              <a:t> Bewertung am 31.12.</a:t>
            </a:r>
            <a:endParaRPr lang="de-CH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6246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EE351-4574-C056-9752-E5EB6BFF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CFDEF467-F540-6F66-8AA0-26EFADD63753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</a:t>
            </a: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Buchführung </a:t>
            </a:r>
            <a:endParaRPr lang="de-CH" noProof="0" dirty="0">
              <a:solidFill>
                <a:srgbClr val="17406D">
                  <a:lumMod val="75000"/>
                </a:srgbClr>
              </a:solidFill>
              <a:cs typeface="Arial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2D47EA0-E9D3-D8A1-5D19-FC2B0AD22E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DCF912D-EDF5-8102-5A0D-D07873D5B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57716A20-C3EF-4109-A293-71751DE8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D2AD32D-E85A-B571-64A3-CFF05DA084D6}"/>
              </a:ext>
            </a:extLst>
          </p:cNvPr>
          <p:cNvSpPr txBox="1"/>
          <p:nvPr/>
        </p:nvSpPr>
        <p:spPr>
          <a:xfrm>
            <a:off x="399822" y="622009"/>
            <a:ext cx="104134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Aus Sicht Aktionär / Obligationär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b="1" dirty="0">
                <a:sym typeface="Wingdings" panose="05000000000000000000" pitchFamily="2" charset="2"/>
              </a:rPr>
              <a:t>Handel der Wertschriften (Aktiv-Seite)</a:t>
            </a:r>
          </a:p>
          <a:p>
            <a:r>
              <a:rPr lang="de-DE" dirty="0">
                <a:sym typeface="Wingdings" panose="05000000000000000000" pitchFamily="2" charset="2"/>
              </a:rPr>
              <a:t>(vgl. S. 6)</a:t>
            </a:r>
            <a:endParaRPr lang="de-CH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CAEDDD45-D421-6753-8589-7DCCAE480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794" y="333469"/>
            <a:ext cx="7019976" cy="1609737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EAFE53CC-128F-D8A3-801B-930F924D3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794" y="1943206"/>
            <a:ext cx="7058077" cy="1323985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91E0B2F2-0F7D-A4FA-EE06-74B45C1D2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794" y="3267191"/>
            <a:ext cx="7019976" cy="981082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CE04136E-90B1-06AB-D8DD-95E69DE4A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844" y="4213103"/>
            <a:ext cx="7000926" cy="981082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2B417072-08E9-D727-132A-478DD0B9B5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8794" y="5152469"/>
            <a:ext cx="6991401" cy="65723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AD72C14A-8683-2BF3-04B1-02822B5E1D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4506" y="5809699"/>
            <a:ext cx="7019976" cy="600079"/>
          </a:xfrm>
          <a:prstGeom prst="rect">
            <a:avLst/>
          </a:prstGeom>
        </p:spPr>
      </p:pic>
      <p:sp>
        <p:nvSpPr>
          <p:cNvPr id="43" name="Pfeil: nach rechts 42">
            <a:extLst>
              <a:ext uri="{FF2B5EF4-FFF2-40B4-BE49-F238E27FC236}">
                <a16:creationId xmlns:a16="http://schemas.microsoft.com/office/drawing/2014/main" id="{30A62BBE-1D90-CAD0-967E-604F5757BD50}"/>
              </a:ext>
            </a:extLst>
          </p:cNvPr>
          <p:cNvSpPr/>
          <p:nvPr/>
        </p:nvSpPr>
        <p:spPr>
          <a:xfrm>
            <a:off x="3455666" y="1713805"/>
            <a:ext cx="983511" cy="23471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52FE34AA-545B-9B6E-0B88-4A2DCE3DD174}"/>
              </a:ext>
            </a:extLst>
          </p:cNvPr>
          <p:cNvSpPr txBox="1"/>
          <p:nvPr/>
        </p:nvSpPr>
        <p:spPr>
          <a:xfrm>
            <a:off x="1562986" y="1625633"/>
            <a:ext cx="1854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NUR Obligationen</a:t>
            </a:r>
          </a:p>
        </p:txBody>
      </p:sp>
      <p:sp>
        <p:nvSpPr>
          <p:cNvPr id="45" name="Pfeil: nach rechts 44">
            <a:extLst>
              <a:ext uri="{FF2B5EF4-FFF2-40B4-BE49-F238E27FC236}">
                <a16:creationId xmlns:a16="http://schemas.microsoft.com/office/drawing/2014/main" id="{0B6B226B-C179-6AD9-3495-CE2C5BB51AC4}"/>
              </a:ext>
            </a:extLst>
          </p:cNvPr>
          <p:cNvSpPr/>
          <p:nvPr/>
        </p:nvSpPr>
        <p:spPr>
          <a:xfrm>
            <a:off x="3455666" y="2986031"/>
            <a:ext cx="983511" cy="23471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91946062-B4EE-5E7E-0A1B-44371F193B2C}"/>
              </a:ext>
            </a:extLst>
          </p:cNvPr>
          <p:cNvSpPr txBox="1"/>
          <p:nvPr/>
        </p:nvSpPr>
        <p:spPr>
          <a:xfrm>
            <a:off x="1562986" y="2897859"/>
            <a:ext cx="1854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NUR Obligationen</a:t>
            </a:r>
          </a:p>
        </p:txBody>
      </p:sp>
      <p:sp>
        <p:nvSpPr>
          <p:cNvPr id="47" name="Pfeil: nach rechts 46">
            <a:extLst>
              <a:ext uri="{FF2B5EF4-FFF2-40B4-BE49-F238E27FC236}">
                <a16:creationId xmlns:a16="http://schemas.microsoft.com/office/drawing/2014/main" id="{345D8145-9ADF-935D-BBCF-3E1729B3AEDA}"/>
              </a:ext>
            </a:extLst>
          </p:cNvPr>
          <p:cNvSpPr/>
          <p:nvPr/>
        </p:nvSpPr>
        <p:spPr>
          <a:xfrm>
            <a:off x="3455666" y="6139497"/>
            <a:ext cx="983511" cy="23471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3A3CCC3F-3549-C3D5-26B0-5017FD0FBBE1}"/>
              </a:ext>
            </a:extLst>
          </p:cNvPr>
          <p:cNvSpPr txBox="1"/>
          <p:nvPr/>
        </p:nvSpPr>
        <p:spPr>
          <a:xfrm>
            <a:off x="1562986" y="6051325"/>
            <a:ext cx="1854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NUR Obligationen</a:t>
            </a:r>
          </a:p>
        </p:txBody>
      </p:sp>
    </p:spTree>
    <p:extLst>
      <p:ext uri="{BB962C8B-B14F-4D97-AF65-F5344CB8AC3E}">
        <p14:creationId xmlns:p14="http://schemas.microsoft.com/office/powerpoint/2010/main" val="332246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6" grpId="0"/>
      <p:bldP spid="47" grpId="0" animBg="1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821A-B73A-34D5-D53C-4FB6FA786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302D1D33-5F24-2B00-DBFC-755BFA5321C8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Übung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B3968F2-163D-DBA6-21D3-3F1B8504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AEF33BF-AF1E-0A0B-81D9-39B5B543A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AF85D9D0-5ACE-FE0A-F52F-185FAAD5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2897A03-EDA3-EC4B-D3FA-7744B0C28F5F}"/>
              </a:ext>
            </a:extLst>
          </p:cNvPr>
          <p:cNvSpPr txBox="1"/>
          <p:nvPr/>
        </p:nvSpPr>
        <p:spPr>
          <a:xfrm>
            <a:off x="399822" y="739261"/>
            <a:ext cx="60951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1" dirty="0"/>
              <a:t>SA / HA</a:t>
            </a:r>
            <a:endParaRPr lang="de-CH" dirty="0"/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Lesen Sie S. 2-6 </a:t>
            </a:r>
          </a:p>
          <a:p>
            <a:pPr marL="285750" indent="-285750">
              <a:buFontTx/>
              <a:buChar char="-"/>
            </a:pPr>
            <a:r>
              <a:rPr lang="en-CH" dirty="0"/>
              <a:t>Lösen &amp; korrigieren Sie:</a:t>
            </a:r>
            <a:endParaRPr lang="de-CH" dirty="0"/>
          </a:p>
          <a:p>
            <a:r>
              <a:rPr lang="de-DE" dirty="0"/>
              <a:t>	2 / 3 </a:t>
            </a:r>
            <a:endParaRPr lang="de-CH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013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E0FBE-38A9-0A57-2F21-F8FC169A2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6C67D126-6266-D348-599B-D7EFDF31CFFD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Rendite berechnen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353F732-423E-3D05-79B1-A763CE9F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1E50ECC-BDFC-DB5B-36A0-FDE7269CC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8EE8B2FE-6949-28F0-633C-37C9C5AE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C2D8C26-5204-05D9-D375-E6A244A5F105}"/>
              </a:ext>
            </a:extLst>
          </p:cNvPr>
          <p:cNvSpPr txBox="1"/>
          <p:nvPr/>
        </p:nvSpPr>
        <p:spPr>
          <a:xfrm>
            <a:off x="399821" y="622009"/>
            <a:ext cx="7803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Wie viel habe ich in % mit der WS verdient?</a:t>
            </a: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B1E3762B-C63A-AEBF-4518-F532E1BC67A0}"/>
                  </a:ext>
                </a:extLst>
              </p:cNvPr>
              <p:cNvSpPr txBox="1"/>
              <p:nvPr/>
            </p:nvSpPr>
            <p:spPr>
              <a:xfrm>
                <a:off x="582133" y="1148317"/>
                <a:ext cx="2937244" cy="572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Rendite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b="1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1" i="0" smtClean="0">
                              <a:latin typeface="Cambria Math" panose="02040503050406030204" pitchFamily="18" charset="0"/>
                            </a:rPr>
                            <m:t>𝐉𝐚𝐡𝐫𝐞𝐬</m:t>
                          </m:r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ertrag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Einsatz</m:t>
                          </m:r>
                          <m:r>
                            <a:rPr lang="de-DE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Kapital</m:t>
                          </m:r>
                        </m:den>
                      </m:f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B1E3762B-C63A-AEBF-4518-F532E1BC6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33" y="1148317"/>
                <a:ext cx="2937244" cy="5725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C779025E-70D7-AF50-EB9C-7D71023DE132}"/>
              </a:ext>
            </a:extLst>
          </p:cNvPr>
          <p:cNvSpPr txBox="1"/>
          <p:nvPr/>
        </p:nvSpPr>
        <p:spPr>
          <a:xfrm>
            <a:off x="336025" y="1992788"/>
            <a:ext cx="11359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Rendite Aktien:</a:t>
            </a:r>
            <a:endParaRPr lang="de-CH" b="1" dirty="0">
              <a:latin typeface="+mj-lt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EB92A2C-6821-7CD6-7643-25B303F12BA7}"/>
              </a:ext>
            </a:extLst>
          </p:cNvPr>
          <p:cNvSpPr txBox="1"/>
          <p:nvPr/>
        </p:nvSpPr>
        <p:spPr>
          <a:xfrm>
            <a:off x="4523481" y="1111447"/>
            <a:ext cx="3940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Grundformel für Berechnung Rendite</a:t>
            </a:r>
          </a:p>
          <a:p>
            <a:r>
              <a:rPr lang="de-DE" dirty="0"/>
              <a:t>Vgl. Kap 18 Kennzahlen </a:t>
            </a:r>
            <a:endParaRPr lang="de-CH" dirty="0"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6D9DE77-C9EA-FED7-4DD5-CB5004937D55}"/>
              </a:ext>
            </a:extLst>
          </p:cNvPr>
          <p:cNvSpPr txBox="1"/>
          <p:nvPr/>
        </p:nvSpPr>
        <p:spPr>
          <a:xfrm>
            <a:off x="399822" y="2504242"/>
            <a:ext cx="2667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1. Jahresertrag pro Aktie = </a:t>
            </a:r>
            <a:endParaRPr lang="de-CH" b="1" dirty="0">
              <a:latin typeface="+mj-lt"/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D9486C05-DA7D-90A9-B577-32567AB25828}"/>
              </a:ext>
            </a:extLst>
          </p:cNvPr>
          <p:cNvGrpSpPr/>
          <p:nvPr/>
        </p:nvGrpSpPr>
        <p:grpSpPr>
          <a:xfrm>
            <a:off x="3285461" y="2319576"/>
            <a:ext cx="4859078" cy="696120"/>
            <a:chOff x="3285461" y="2803354"/>
            <a:chExt cx="4859078" cy="696120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DF161516-825C-EFE3-A915-440E0D83E5EB}"/>
                </a:ext>
              </a:extLst>
            </p:cNvPr>
            <p:cNvSpPr txBox="1"/>
            <p:nvPr/>
          </p:nvSpPr>
          <p:spPr>
            <a:xfrm>
              <a:off x="3285461" y="2803354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Dividenden +/- Kursdifferenz (Gewinn/Verlust)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A4ADDCCC-609E-A0C4-3934-3A613379C9D0}"/>
                </a:ext>
              </a:extLst>
            </p:cNvPr>
            <p:cNvCxnSpPr>
              <a:cxnSpLocks/>
            </p:cNvCxnSpPr>
            <p:nvPr/>
          </p:nvCxnSpPr>
          <p:spPr>
            <a:xfrm>
              <a:off x="3285461" y="3172686"/>
              <a:ext cx="4859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CBBEFFE-A4F6-30A5-DF3B-84BE68A2AA2C}"/>
                </a:ext>
              </a:extLst>
            </p:cNvPr>
            <p:cNvSpPr txBox="1"/>
            <p:nvPr/>
          </p:nvSpPr>
          <p:spPr>
            <a:xfrm>
              <a:off x="3285461" y="3130142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Anlagedauer (</a:t>
              </a:r>
              <a:r>
                <a:rPr lang="de-DE" b="1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gemäss</a:t>
              </a:r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deutscher Zinsusanz)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17" name="Textfeld 16">
            <a:extLst>
              <a:ext uri="{FF2B5EF4-FFF2-40B4-BE49-F238E27FC236}">
                <a16:creationId xmlns:a16="http://schemas.microsoft.com/office/drawing/2014/main" id="{826C17A1-8ECF-F2FD-1B92-F22C1D3D15D2}"/>
              </a:ext>
            </a:extLst>
          </p:cNvPr>
          <p:cNvSpPr txBox="1"/>
          <p:nvPr/>
        </p:nvSpPr>
        <p:spPr>
          <a:xfrm>
            <a:off x="399822" y="3484606"/>
            <a:ext cx="2667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2. Rendite pro Aktie = </a:t>
            </a:r>
            <a:endParaRPr lang="de-CH" b="1" dirty="0">
              <a:latin typeface="+mj-lt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3ECE496F-4006-30E4-90D2-642F8CDBAF58}"/>
              </a:ext>
            </a:extLst>
          </p:cNvPr>
          <p:cNvGrpSpPr/>
          <p:nvPr/>
        </p:nvGrpSpPr>
        <p:grpSpPr>
          <a:xfrm>
            <a:off x="3285461" y="3299940"/>
            <a:ext cx="4859078" cy="696120"/>
            <a:chOff x="3285461" y="2803354"/>
            <a:chExt cx="4859078" cy="696120"/>
          </a:xfrm>
        </p:grpSpPr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8139E987-FAC1-9883-A733-C10993122D0F}"/>
                </a:ext>
              </a:extLst>
            </p:cNvPr>
            <p:cNvSpPr txBox="1"/>
            <p:nvPr/>
          </p:nvSpPr>
          <p:spPr>
            <a:xfrm>
              <a:off x="3285461" y="2803354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Durchschnittlicher Jahresertrag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ECFF2704-AD1E-2427-94FB-9226BFA08E31}"/>
                </a:ext>
              </a:extLst>
            </p:cNvPr>
            <p:cNvCxnSpPr>
              <a:cxnSpLocks/>
            </p:cNvCxnSpPr>
            <p:nvPr/>
          </p:nvCxnSpPr>
          <p:spPr>
            <a:xfrm>
              <a:off x="3285461" y="3172686"/>
              <a:ext cx="4859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766FE48E-7D02-F626-F333-FA6D0D89D84E}"/>
                </a:ext>
              </a:extLst>
            </p:cNvPr>
            <p:cNvSpPr txBox="1"/>
            <p:nvPr/>
          </p:nvSpPr>
          <p:spPr>
            <a:xfrm>
              <a:off x="3285461" y="3130142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Kaufkurs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22" name="Textfeld 21">
            <a:extLst>
              <a:ext uri="{FF2B5EF4-FFF2-40B4-BE49-F238E27FC236}">
                <a16:creationId xmlns:a16="http://schemas.microsoft.com/office/drawing/2014/main" id="{E56F5E55-4D99-6F19-F80F-413E7F97A5BF}"/>
              </a:ext>
            </a:extLst>
          </p:cNvPr>
          <p:cNvSpPr txBox="1"/>
          <p:nvPr/>
        </p:nvSpPr>
        <p:spPr>
          <a:xfrm>
            <a:off x="399821" y="5063552"/>
            <a:ext cx="2667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1. Jahresertrag pro Aktie = </a:t>
            </a:r>
            <a:endParaRPr lang="de-CH" b="1" dirty="0">
              <a:latin typeface="+mj-lt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32AC65D8-7561-D6CA-BC0C-40B77629E807}"/>
              </a:ext>
            </a:extLst>
          </p:cNvPr>
          <p:cNvGrpSpPr/>
          <p:nvPr/>
        </p:nvGrpSpPr>
        <p:grpSpPr>
          <a:xfrm>
            <a:off x="3285460" y="4878886"/>
            <a:ext cx="3312042" cy="696120"/>
            <a:chOff x="3285461" y="2803354"/>
            <a:chExt cx="4859078" cy="696120"/>
          </a:xfrm>
        </p:grpSpPr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59F4795A-3E46-E215-1689-AF0461DF92BA}"/>
                </a:ext>
              </a:extLst>
            </p:cNvPr>
            <p:cNvSpPr txBox="1"/>
            <p:nvPr/>
          </p:nvSpPr>
          <p:spPr>
            <a:xfrm>
              <a:off x="3285461" y="2803354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0.85+0.90+0.95 +37.00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68B93E3A-1F53-443A-316F-BF732F2517F7}"/>
                </a:ext>
              </a:extLst>
            </p:cNvPr>
            <p:cNvCxnSpPr>
              <a:cxnSpLocks/>
            </p:cNvCxnSpPr>
            <p:nvPr/>
          </p:nvCxnSpPr>
          <p:spPr>
            <a:xfrm>
              <a:off x="3285461" y="3172686"/>
              <a:ext cx="4859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4A976985-6261-748B-68FE-EEF905867716}"/>
                </a:ext>
              </a:extLst>
            </p:cNvPr>
            <p:cNvSpPr txBox="1"/>
            <p:nvPr/>
          </p:nvSpPr>
          <p:spPr>
            <a:xfrm>
              <a:off x="3285461" y="3130142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3.5 Jahre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2BA2681D-0646-BDD6-7660-13499E286118}"/>
              </a:ext>
            </a:extLst>
          </p:cNvPr>
          <p:cNvSpPr txBox="1"/>
          <p:nvPr/>
        </p:nvSpPr>
        <p:spPr>
          <a:xfrm>
            <a:off x="399821" y="6043916"/>
            <a:ext cx="2667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2. Rendite pro Aktie = </a:t>
            </a:r>
            <a:endParaRPr lang="de-CH" b="1" dirty="0">
              <a:latin typeface="+mj-lt"/>
            </a:endParaRP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6BE62475-5723-FC83-F203-FEEEE585449F}"/>
              </a:ext>
            </a:extLst>
          </p:cNvPr>
          <p:cNvGrpSpPr/>
          <p:nvPr/>
        </p:nvGrpSpPr>
        <p:grpSpPr>
          <a:xfrm>
            <a:off x="3285460" y="5859250"/>
            <a:ext cx="3312042" cy="696120"/>
            <a:chOff x="3285461" y="2803354"/>
            <a:chExt cx="4859078" cy="696120"/>
          </a:xfrm>
        </p:grpSpPr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D3145354-48A6-5041-A88F-85EF774C8B86}"/>
                </a:ext>
              </a:extLst>
            </p:cNvPr>
            <p:cNvSpPr txBox="1"/>
            <p:nvPr/>
          </p:nvSpPr>
          <p:spPr>
            <a:xfrm>
              <a:off x="3285461" y="2803354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11.35 CHF/Jahr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6B489604-BCC9-14DA-64E0-F8D5D87B16CA}"/>
                </a:ext>
              </a:extLst>
            </p:cNvPr>
            <p:cNvCxnSpPr>
              <a:cxnSpLocks/>
            </p:cNvCxnSpPr>
            <p:nvPr/>
          </p:nvCxnSpPr>
          <p:spPr>
            <a:xfrm>
              <a:off x="3285461" y="3172686"/>
              <a:ext cx="4859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91C2FAD5-4E66-6E4E-05F4-BDEE88ACC56C}"/>
                </a:ext>
              </a:extLst>
            </p:cNvPr>
            <p:cNvSpPr txBox="1"/>
            <p:nvPr/>
          </p:nvSpPr>
          <p:spPr>
            <a:xfrm>
              <a:off x="3285461" y="3130142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CHF 40.-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0A8498AB-0C26-CB51-CC68-65D37C86CB02}"/>
              </a:ext>
            </a:extLst>
          </p:cNvPr>
          <p:cNvSpPr txBox="1"/>
          <p:nvPr/>
        </p:nvSpPr>
        <p:spPr>
          <a:xfrm>
            <a:off x="341341" y="4204038"/>
            <a:ext cx="11301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Anna kaufte vor 3.5 Jahren ABB Aktien für CHF 40.-, erhaltene Dividenden CHF: 0.85, 0.90, 0.95. Verkaufskurs: CHF 77.-.</a:t>
            </a:r>
            <a:endParaRPr kumimoji="0" lang="de-CH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10987FF6-2830-BFF5-D097-24A40DABB9C6}"/>
              </a:ext>
            </a:extLst>
          </p:cNvPr>
          <p:cNvGrpSpPr/>
          <p:nvPr/>
        </p:nvGrpSpPr>
        <p:grpSpPr>
          <a:xfrm>
            <a:off x="6887676" y="4878886"/>
            <a:ext cx="1501412" cy="696120"/>
            <a:chOff x="3285461" y="2803354"/>
            <a:chExt cx="4859078" cy="696120"/>
          </a:xfrm>
        </p:grpSpPr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E4E05428-0132-D504-11C3-F5B86B37096F}"/>
                </a:ext>
              </a:extLst>
            </p:cNvPr>
            <p:cNvSpPr txBox="1"/>
            <p:nvPr/>
          </p:nvSpPr>
          <p:spPr>
            <a:xfrm>
              <a:off x="3285461" y="2803354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39.70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C0D31BB9-B82E-2BEA-5489-DDB7257C0622}"/>
                </a:ext>
              </a:extLst>
            </p:cNvPr>
            <p:cNvCxnSpPr>
              <a:cxnSpLocks/>
            </p:cNvCxnSpPr>
            <p:nvPr/>
          </p:nvCxnSpPr>
          <p:spPr>
            <a:xfrm>
              <a:off x="3285461" y="3172686"/>
              <a:ext cx="4859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9B1F85E4-F00F-03B6-11A1-1ECC3DB9B2CF}"/>
                </a:ext>
              </a:extLst>
            </p:cNvPr>
            <p:cNvSpPr txBox="1"/>
            <p:nvPr/>
          </p:nvSpPr>
          <p:spPr>
            <a:xfrm>
              <a:off x="3285461" y="3130142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3.5 Jahre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40" name="Textfeld 39">
            <a:extLst>
              <a:ext uri="{FF2B5EF4-FFF2-40B4-BE49-F238E27FC236}">
                <a16:creationId xmlns:a16="http://schemas.microsoft.com/office/drawing/2014/main" id="{A197424C-F71E-06D9-384A-0BE9D0604FA3}"/>
              </a:ext>
            </a:extLst>
          </p:cNvPr>
          <p:cNvSpPr txBox="1"/>
          <p:nvPr/>
        </p:nvSpPr>
        <p:spPr>
          <a:xfrm>
            <a:off x="6597502" y="5060867"/>
            <a:ext cx="362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b="1" dirty="0"/>
              <a:t>=</a:t>
            </a:r>
            <a:endParaRPr lang="de-CH" dirty="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A77CF26-BD1D-C712-1634-80735C872C99}"/>
              </a:ext>
            </a:extLst>
          </p:cNvPr>
          <p:cNvSpPr txBox="1"/>
          <p:nvPr/>
        </p:nvSpPr>
        <p:spPr>
          <a:xfrm>
            <a:off x="8497843" y="5060867"/>
            <a:ext cx="284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/>
              <a:t>= 11.35 CHF / Jahr</a:t>
            </a:r>
            <a:endParaRPr lang="de-CH" dirty="0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0AA2F8D1-852A-3D13-52C1-C0469DFD3ABC}"/>
              </a:ext>
            </a:extLst>
          </p:cNvPr>
          <p:cNvSpPr txBox="1"/>
          <p:nvPr/>
        </p:nvSpPr>
        <p:spPr>
          <a:xfrm>
            <a:off x="6597502" y="6026196"/>
            <a:ext cx="284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/>
              <a:t>= </a:t>
            </a:r>
            <a:r>
              <a:rPr lang="de-DE" sz="1800" b="1" u="sng" dirty="0"/>
              <a:t>28.36%</a:t>
            </a:r>
            <a:endParaRPr lang="de-CH" u="sng" dirty="0"/>
          </a:p>
        </p:txBody>
      </p:sp>
    </p:spTree>
    <p:extLst>
      <p:ext uri="{BB962C8B-B14F-4D97-AF65-F5344CB8AC3E}">
        <p14:creationId xmlns:p14="http://schemas.microsoft.com/office/powerpoint/2010/main" val="422638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3" grpId="0"/>
      <p:bldP spid="40" grpId="0"/>
      <p:bldP spid="42" grpId="0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00FC9-46D9-230A-8795-21F12F48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3368063B-77D4-5CAA-E066-20EDA77C9AED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Rendite berechnen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8BE29A6-167C-50E8-155F-9B4B419BEC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827978E-596F-628E-EB41-4C1432A0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8F9E6B6A-D7CE-6905-7F15-6A7E886F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8DD35ED-C9DA-9360-A318-C878563B2D83}"/>
              </a:ext>
            </a:extLst>
          </p:cNvPr>
          <p:cNvSpPr txBox="1"/>
          <p:nvPr/>
        </p:nvSpPr>
        <p:spPr>
          <a:xfrm>
            <a:off x="399821" y="622009"/>
            <a:ext cx="7803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Wie viel habe ich in % mit der WS verdient?</a:t>
            </a: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1C7D92D-4939-931A-403F-83C6016F5439}"/>
                  </a:ext>
                </a:extLst>
              </p:cNvPr>
              <p:cNvSpPr txBox="1"/>
              <p:nvPr/>
            </p:nvSpPr>
            <p:spPr>
              <a:xfrm>
                <a:off x="582133" y="1148317"/>
                <a:ext cx="2937244" cy="572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Rendite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b="1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1" i="0" smtClean="0">
                              <a:latin typeface="Cambria Math" panose="02040503050406030204" pitchFamily="18" charset="0"/>
                            </a:rPr>
                            <m:t>𝐉𝐚𝐡𝐫𝐞𝐬</m:t>
                          </m:r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ertrag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Einsatz</m:t>
                          </m:r>
                          <m:r>
                            <a:rPr lang="de-DE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Kapital</m:t>
                          </m:r>
                        </m:den>
                      </m:f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1C7D92D-4939-931A-403F-83C6016F5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33" y="1148317"/>
                <a:ext cx="2937244" cy="5725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70AE28F1-6ED0-59B2-4AF7-59A68BD07D23}"/>
              </a:ext>
            </a:extLst>
          </p:cNvPr>
          <p:cNvSpPr txBox="1"/>
          <p:nvPr/>
        </p:nvSpPr>
        <p:spPr>
          <a:xfrm>
            <a:off x="336025" y="1992788"/>
            <a:ext cx="11359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Rendite Obligation:</a:t>
            </a:r>
            <a:endParaRPr lang="de-CH" b="1" dirty="0">
              <a:latin typeface="+mj-lt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E6556CD-82E5-00A5-2ACE-C3126EF67F2F}"/>
              </a:ext>
            </a:extLst>
          </p:cNvPr>
          <p:cNvSpPr txBox="1"/>
          <p:nvPr/>
        </p:nvSpPr>
        <p:spPr>
          <a:xfrm>
            <a:off x="4523481" y="1111447"/>
            <a:ext cx="3940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Grundformel für Berechnung Rendite</a:t>
            </a:r>
          </a:p>
          <a:p>
            <a:r>
              <a:rPr lang="de-DE" dirty="0"/>
              <a:t>Vgl. Kap 18 Kennzahlen </a:t>
            </a:r>
            <a:endParaRPr lang="de-CH" dirty="0"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0391C44-EEB2-2E77-B4BB-B1CF40F2E8D7}"/>
              </a:ext>
            </a:extLst>
          </p:cNvPr>
          <p:cNvSpPr txBox="1"/>
          <p:nvPr/>
        </p:nvSpPr>
        <p:spPr>
          <a:xfrm>
            <a:off x="399822" y="2504242"/>
            <a:ext cx="2667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1. Jahresertrag in % = </a:t>
            </a:r>
            <a:endParaRPr lang="de-CH" b="1" dirty="0">
              <a:latin typeface="+mj-lt"/>
            </a:endParaRP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A96D3EDB-26AB-30EC-1B48-7AE80F78F4E6}"/>
              </a:ext>
            </a:extLst>
          </p:cNvPr>
          <p:cNvGrpSpPr/>
          <p:nvPr/>
        </p:nvGrpSpPr>
        <p:grpSpPr>
          <a:xfrm>
            <a:off x="4577319" y="2319576"/>
            <a:ext cx="4502887" cy="696120"/>
            <a:chOff x="3960629" y="2319576"/>
            <a:chExt cx="4859078" cy="696120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C965ABE-EE09-826D-7BC7-6AC4249E443E}"/>
                </a:ext>
              </a:extLst>
            </p:cNvPr>
            <p:cNvSpPr txBox="1"/>
            <p:nvPr/>
          </p:nvSpPr>
          <p:spPr>
            <a:xfrm>
              <a:off x="3960629" y="2319576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+/- Kursdifferenz (in %) (Gewinn/Verlust)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3B76B2AC-854E-A8DE-8689-3F9FFA6B5F17}"/>
                </a:ext>
              </a:extLst>
            </p:cNvPr>
            <p:cNvCxnSpPr>
              <a:cxnSpLocks/>
            </p:cNvCxnSpPr>
            <p:nvPr/>
          </p:nvCxnSpPr>
          <p:spPr>
            <a:xfrm>
              <a:off x="3960629" y="2688908"/>
              <a:ext cx="4859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C7AC73CD-6073-2CD0-4AB2-AF3EA7F6B7D8}"/>
                </a:ext>
              </a:extLst>
            </p:cNvPr>
            <p:cNvSpPr txBox="1"/>
            <p:nvPr/>
          </p:nvSpPr>
          <p:spPr>
            <a:xfrm>
              <a:off x="3960629" y="2646364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Anlagedauer (</a:t>
              </a:r>
              <a:r>
                <a:rPr lang="de-DE" b="1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gemäss</a:t>
              </a:r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deutscher Zinsusanz)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17" name="Textfeld 16">
            <a:extLst>
              <a:ext uri="{FF2B5EF4-FFF2-40B4-BE49-F238E27FC236}">
                <a16:creationId xmlns:a16="http://schemas.microsoft.com/office/drawing/2014/main" id="{DA372983-3BB9-A47F-C6E3-46C8D84FFC5A}"/>
              </a:ext>
            </a:extLst>
          </p:cNvPr>
          <p:cNvSpPr txBox="1"/>
          <p:nvPr/>
        </p:nvSpPr>
        <p:spPr>
          <a:xfrm>
            <a:off x="399822" y="3484606"/>
            <a:ext cx="2667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2. Rendite Obligation = </a:t>
            </a:r>
            <a:endParaRPr lang="de-CH" b="1" dirty="0">
              <a:latin typeface="+mj-lt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99F42C8C-1B3D-B41F-33CB-5C9C3C65E1B0}"/>
              </a:ext>
            </a:extLst>
          </p:cNvPr>
          <p:cNvGrpSpPr/>
          <p:nvPr/>
        </p:nvGrpSpPr>
        <p:grpSpPr>
          <a:xfrm>
            <a:off x="3285461" y="3299940"/>
            <a:ext cx="5258236" cy="696120"/>
            <a:chOff x="3285461" y="2803354"/>
            <a:chExt cx="4859078" cy="696120"/>
          </a:xfrm>
        </p:grpSpPr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6B1E96B2-005F-A068-0F77-DAB8FD1DC688}"/>
                </a:ext>
              </a:extLst>
            </p:cNvPr>
            <p:cNvSpPr txBox="1"/>
            <p:nvPr/>
          </p:nvSpPr>
          <p:spPr>
            <a:xfrm>
              <a:off x="3285461" y="2803354"/>
              <a:ext cx="485907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Durchschnittlicher Jahresertrag (in % Nennwert)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45608BE9-D464-7655-A206-4E35E72794A7}"/>
                </a:ext>
              </a:extLst>
            </p:cNvPr>
            <p:cNvCxnSpPr>
              <a:cxnSpLocks/>
            </p:cNvCxnSpPr>
            <p:nvPr/>
          </p:nvCxnSpPr>
          <p:spPr>
            <a:xfrm>
              <a:off x="3285461" y="3172686"/>
              <a:ext cx="4859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01C7BA3C-EC19-1DB4-2EF7-4415D210CB3F}"/>
                </a:ext>
              </a:extLst>
            </p:cNvPr>
            <p:cNvSpPr txBox="1"/>
            <p:nvPr/>
          </p:nvSpPr>
          <p:spPr>
            <a:xfrm>
              <a:off x="3285461" y="3130142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Kaufkurs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22" name="Textfeld 21">
            <a:extLst>
              <a:ext uri="{FF2B5EF4-FFF2-40B4-BE49-F238E27FC236}">
                <a16:creationId xmlns:a16="http://schemas.microsoft.com/office/drawing/2014/main" id="{4329C45E-8234-60F7-1C82-704AFB4C863F}"/>
              </a:ext>
            </a:extLst>
          </p:cNvPr>
          <p:cNvSpPr txBox="1"/>
          <p:nvPr/>
        </p:nvSpPr>
        <p:spPr>
          <a:xfrm>
            <a:off x="399821" y="5063552"/>
            <a:ext cx="2667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1. Jahresertrag in % = </a:t>
            </a:r>
            <a:endParaRPr lang="de-CH" b="1" dirty="0">
              <a:latin typeface="+mj-lt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357D32CF-A4B3-702B-376C-9092B848BF3B}"/>
              </a:ext>
            </a:extLst>
          </p:cNvPr>
          <p:cNvGrpSpPr/>
          <p:nvPr/>
        </p:nvGrpSpPr>
        <p:grpSpPr>
          <a:xfrm>
            <a:off x="4239167" y="4878886"/>
            <a:ext cx="1404629" cy="696120"/>
            <a:chOff x="3285461" y="2803354"/>
            <a:chExt cx="4859078" cy="696120"/>
          </a:xfrm>
        </p:grpSpPr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59771929-7AE3-D7D4-C6BF-0FDA4E5930F3}"/>
                </a:ext>
              </a:extLst>
            </p:cNvPr>
            <p:cNvSpPr txBox="1"/>
            <p:nvPr/>
          </p:nvSpPr>
          <p:spPr>
            <a:xfrm>
              <a:off x="3285461" y="2803354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+ 2%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63E08B1D-1FEB-5FF1-117E-4E6840C74DF4}"/>
                </a:ext>
              </a:extLst>
            </p:cNvPr>
            <p:cNvCxnSpPr>
              <a:cxnSpLocks/>
            </p:cNvCxnSpPr>
            <p:nvPr/>
          </p:nvCxnSpPr>
          <p:spPr>
            <a:xfrm>
              <a:off x="3285461" y="3172686"/>
              <a:ext cx="4859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C43A70FB-1CF3-DE28-CBDA-EF89E45E4B1B}"/>
                </a:ext>
              </a:extLst>
            </p:cNvPr>
            <p:cNvSpPr txBox="1"/>
            <p:nvPr/>
          </p:nvSpPr>
          <p:spPr>
            <a:xfrm>
              <a:off x="3285461" y="3130142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5 Jahre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20FFF7E3-ACBD-9942-7F8A-435574531356}"/>
              </a:ext>
            </a:extLst>
          </p:cNvPr>
          <p:cNvSpPr txBox="1"/>
          <p:nvPr/>
        </p:nvSpPr>
        <p:spPr>
          <a:xfrm>
            <a:off x="399821" y="6043916"/>
            <a:ext cx="2667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2. Rendite Obligation = </a:t>
            </a:r>
            <a:endParaRPr lang="de-CH" b="1" dirty="0">
              <a:latin typeface="+mj-lt"/>
            </a:endParaRP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FFC1F995-5DA3-F541-57A6-9C6A55F90698}"/>
              </a:ext>
            </a:extLst>
          </p:cNvPr>
          <p:cNvGrpSpPr/>
          <p:nvPr/>
        </p:nvGrpSpPr>
        <p:grpSpPr>
          <a:xfrm>
            <a:off x="3321298" y="5859250"/>
            <a:ext cx="2262169" cy="696120"/>
            <a:chOff x="3285461" y="2803354"/>
            <a:chExt cx="4859078" cy="696120"/>
          </a:xfrm>
        </p:grpSpPr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F3A945AF-B749-86BE-3F6A-490A428245D0}"/>
                </a:ext>
              </a:extLst>
            </p:cNvPr>
            <p:cNvSpPr txBox="1"/>
            <p:nvPr/>
          </p:nvSpPr>
          <p:spPr>
            <a:xfrm>
              <a:off x="3285461" y="2803354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1.65%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2A7A7A26-2344-BEC2-852F-DEC7AFCEFD27}"/>
                </a:ext>
              </a:extLst>
            </p:cNvPr>
            <p:cNvCxnSpPr>
              <a:cxnSpLocks/>
            </p:cNvCxnSpPr>
            <p:nvPr/>
          </p:nvCxnSpPr>
          <p:spPr>
            <a:xfrm>
              <a:off x="3285461" y="3172686"/>
              <a:ext cx="485907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B6164D93-3824-C3F4-2F89-66E52339CA24}"/>
                </a:ext>
              </a:extLst>
            </p:cNvPr>
            <p:cNvSpPr txBox="1"/>
            <p:nvPr/>
          </p:nvSpPr>
          <p:spPr>
            <a:xfrm>
              <a:off x="3285461" y="3130142"/>
              <a:ext cx="4859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103%</a:t>
              </a:r>
              <a:endParaRPr lang="de-CH" b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62D3E3DF-CD7F-F3BD-51C2-E4FDC4212C0C}"/>
              </a:ext>
            </a:extLst>
          </p:cNvPr>
          <p:cNvSpPr txBox="1"/>
          <p:nvPr/>
        </p:nvSpPr>
        <p:spPr>
          <a:xfrm>
            <a:off x="341341" y="4204038"/>
            <a:ext cx="11301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Anna kaufte vor 5 Jahren 1.25%-Obligationen 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zum Kurs von 103%. Nun verkauft sie diese zum Kurs </a:t>
            </a:r>
            <a:r>
              <a:rPr lang="de-DE">
                <a:solidFill>
                  <a:prstClr val="black"/>
                </a:solidFill>
                <a:latin typeface="Calibri" panose="020F0502020204030204"/>
              </a:rPr>
              <a:t>von 105%.</a:t>
            </a:r>
            <a:endParaRPr kumimoji="0" lang="de-CH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5C1E1FBD-C8C4-7E82-6A61-0202F1F1D164}"/>
              </a:ext>
            </a:extLst>
          </p:cNvPr>
          <p:cNvSpPr txBox="1"/>
          <p:nvPr/>
        </p:nvSpPr>
        <p:spPr>
          <a:xfrm>
            <a:off x="5672468" y="5060867"/>
            <a:ext cx="362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b="1" dirty="0"/>
              <a:t>=</a:t>
            </a:r>
            <a:endParaRPr lang="de-CH" dirty="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7627349-4CF2-F758-5E4E-A30E8DB41571}"/>
              </a:ext>
            </a:extLst>
          </p:cNvPr>
          <p:cNvSpPr txBox="1"/>
          <p:nvPr/>
        </p:nvSpPr>
        <p:spPr>
          <a:xfrm>
            <a:off x="7572809" y="5060867"/>
            <a:ext cx="284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/>
              <a:t>= 1.65 %</a:t>
            </a:r>
            <a:endParaRPr lang="de-CH" dirty="0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619B5944-A861-7EEE-1C59-C403C9206296}"/>
              </a:ext>
            </a:extLst>
          </p:cNvPr>
          <p:cNvSpPr txBox="1"/>
          <p:nvPr/>
        </p:nvSpPr>
        <p:spPr>
          <a:xfrm>
            <a:off x="6108403" y="6026196"/>
            <a:ext cx="284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/>
              <a:t>= </a:t>
            </a:r>
            <a:r>
              <a:rPr lang="de-DE" sz="1800" b="1" u="sng" dirty="0"/>
              <a:t>1.60%</a:t>
            </a:r>
            <a:endParaRPr lang="de-CH" u="sng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A77F42B-F7C2-48EF-40F0-9CA89D7EB8CB}"/>
              </a:ext>
            </a:extLst>
          </p:cNvPr>
          <p:cNvSpPr txBox="1"/>
          <p:nvPr/>
        </p:nvSpPr>
        <p:spPr>
          <a:xfrm>
            <a:off x="2503081" y="2502337"/>
            <a:ext cx="2090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>
                <a:latin typeface="Cambria Math" panose="02040503050406030204" pitchFamily="18" charset="0"/>
                <a:ea typeface="Cambria Math" panose="02040503050406030204" pitchFamily="18" charset="0"/>
              </a:rPr>
              <a:t>Jahreszins (in %) + </a:t>
            </a:r>
            <a:endParaRPr lang="de-CH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2871D04C-FC28-B0C4-E1C7-7A67E151695C}"/>
              </a:ext>
            </a:extLst>
          </p:cNvPr>
          <p:cNvSpPr txBox="1"/>
          <p:nvPr/>
        </p:nvSpPr>
        <p:spPr>
          <a:xfrm>
            <a:off x="2961530" y="5065272"/>
            <a:ext cx="1328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>
                <a:latin typeface="Cambria Math" panose="02040503050406030204" pitchFamily="18" charset="0"/>
                <a:ea typeface="Cambria Math" panose="02040503050406030204" pitchFamily="18" charset="0"/>
              </a:rPr>
              <a:t>1.25% + </a:t>
            </a:r>
            <a:endParaRPr lang="de-CH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360CD927-8777-5E53-F252-78E048BA9141}"/>
              </a:ext>
            </a:extLst>
          </p:cNvPr>
          <p:cNvSpPr txBox="1"/>
          <p:nvPr/>
        </p:nvSpPr>
        <p:spPr>
          <a:xfrm>
            <a:off x="5932775" y="5056282"/>
            <a:ext cx="1607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b="1" dirty="0">
                <a:latin typeface="Cambria Math" panose="02040503050406030204" pitchFamily="18" charset="0"/>
                <a:ea typeface="Cambria Math" panose="02040503050406030204" pitchFamily="18" charset="0"/>
              </a:rPr>
              <a:t>1.25% + 0.4% </a:t>
            </a:r>
            <a:endParaRPr lang="de-CH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34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0" grpId="0"/>
      <p:bldP spid="42" grpId="0"/>
      <p:bldP spid="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DBF92-302B-54E0-025F-BA438247B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4320C414-3876-5E28-0261-826346A72FC8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Übung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A4E7865-8143-C5F1-EA03-13E724A9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1395749-D053-3E55-5928-2A8438A4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D15DAC73-3F53-486F-559A-71653E5D2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6B14325-7C53-96F9-3566-2B3E103F2584}"/>
              </a:ext>
            </a:extLst>
          </p:cNvPr>
          <p:cNvSpPr txBox="1"/>
          <p:nvPr/>
        </p:nvSpPr>
        <p:spPr>
          <a:xfrm>
            <a:off x="399822" y="739261"/>
            <a:ext cx="60951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SA</a:t>
            </a:r>
            <a:endParaRPr lang="de-CH" dirty="0"/>
          </a:p>
          <a:p>
            <a:endParaRPr lang="de-DE" dirty="0"/>
          </a:p>
          <a:p>
            <a:r>
              <a:rPr lang="en-CH" dirty="0"/>
              <a:t>Lösen &amp; korrigieren Sie:</a:t>
            </a:r>
          </a:p>
          <a:p>
            <a:r>
              <a:rPr lang="de-DE" dirty="0"/>
              <a:t>	9 / 10 </a:t>
            </a:r>
            <a:r>
              <a:rPr lang="de-DE" dirty="0">
                <a:sym typeface="Wingdings" panose="05000000000000000000" pitchFamily="2" charset="2"/>
              </a:rPr>
              <a:t> fertig</a:t>
            </a:r>
            <a:endParaRPr lang="de-CH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61642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B6369-D494-A355-B5C7-EBA980DD3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3F86C3C8-5AC8-F46E-5B63-92F8B6F4B307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Übung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3FB0F02-7CDB-C5A7-12BF-13E31E414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993751-2764-A575-E436-020A14EC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7F7C923A-6D1A-D53B-22B7-A2A7CCFD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12F37B6-AC19-F6AC-6D95-286BE71BBCBA}"/>
              </a:ext>
            </a:extLst>
          </p:cNvPr>
          <p:cNvSpPr txBox="1"/>
          <p:nvPr/>
        </p:nvSpPr>
        <p:spPr>
          <a:xfrm>
            <a:off x="399822" y="739261"/>
            <a:ext cx="60951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1" dirty="0"/>
              <a:t>SA / HA</a:t>
            </a:r>
            <a:endParaRPr lang="de-CH" dirty="0"/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Lesen Sie S. 7-8 </a:t>
            </a:r>
          </a:p>
          <a:p>
            <a:pPr marL="285750" indent="-285750">
              <a:buFontTx/>
              <a:buChar char="-"/>
            </a:pPr>
            <a:r>
              <a:rPr lang="en-CH" dirty="0"/>
              <a:t>Lösen &amp; korrigieren Sie:</a:t>
            </a:r>
          </a:p>
          <a:p>
            <a:r>
              <a:rPr lang="de-DE" dirty="0"/>
              <a:t>	11  / 12 </a:t>
            </a:r>
            <a:r>
              <a:rPr lang="de-DE" dirty="0">
                <a:sym typeface="Wingdings" panose="05000000000000000000" pitchFamily="2" charset="2"/>
              </a:rPr>
              <a:t> fertig</a:t>
            </a:r>
          </a:p>
          <a:p>
            <a:r>
              <a:rPr lang="de-DE" dirty="0">
                <a:sym typeface="Wingdings" panose="05000000000000000000" pitchFamily="2" charset="2"/>
              </a:rPr>
              <a:t>	</a:t>
            </a:r>
          </a:p>
          <a:p>
            <a:endParaRPr lang="de-CH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42763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625B2-F012-4B84-42D7-44DBC0B59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F7E7D97C-40F6-8588-F023-C0127425D2B6}"/>
              </a:ext>
            </a:extLst>
          </p:cNvPr>
          <p:cNvSpPr txBox="1"/>
          <p:nvPr/>
        </p:nvSpPr>
        <p:spPr>
          <a:xfrm>
            <a:off x="399822" y="128014"/>
            <a:ext cx="814387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de-CH" noProof="0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16. Wertschriften – </a:t>
            </a:r>
            <a:r>
              <a:rPr lang="de-DE" dirty="0">
                <a:solidFill>
                  <a:srgbClr val="17406D">
                    <a:lumMod val="75000"/>
                  </a:srgbClr>
                </a:solidFill>
                <a:cs typeface="Arial" pitchFamily="34" charset="0"/>
              </a:rPr>
              <a:t>Prüfungsvorbereitung</a:t>
            </a:r>
            <a:endParaRPr lang="de-CH" noProof="0" dirty="0">
              <a:solidFill>
                <a:srgbClr val="17406D">
                  <a:lumMod val="75000"/>
                </a:srgbClr>
              </a:solidFill>
              <a:cs typeface="Arial" pitchFamily="34" charset="0"/>
            </a:endParaRP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C1F2CE3-9F68-A9E6-6B95-500BC77C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9557" y="6394891"/>
            <a:ext cx="2844799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none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HS 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B49CCF-D3C4-EB8C-1F27-F852DE7D7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4798" y="6390565"/>
            <a:ext cx="6917210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900" b="0" i="0" u="none" strike="noStrike" kern="1200" cap="all" spc="0" normalizeH="0" baseline="0" noProof="0" dirty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BM23A – Sara Lyner</a:t>
            </a:r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C1BC26CC-362D-4604-BA8B-C05ECA548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906" y="6394891"/>
            <a:ext cx="105251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de-CH" sz="900" b="0" i="0" u="none" strike="noStrike" kern="1200" cap="none" spc="0" normalizeH="0" baseline="0" noProof="0" smtClean="0">
                <a:ln>
                  <a:noFill/>
                </a:ln>
                <a:solidFill>
                  <a:srgbClr val="A5300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CH" sz="900" b="0" i="0" u="none" strike="noStrike" kern="1200" cap="none" spc="0" normalizeH="0" baseline="0" noProof="0" dirty="0">
              <a:ln>
                <a:noFill/>
              </a:ln>
              <a:solidFill>
                <a:srgbClr val="A5300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247EEC4-AD8F-1E98-AF0A-D96BB153353E}"/>
              </a:ext>
            </a:extLst>
          </p:cNvPr>
          <p:cNvSpPr txBox="1"/>
          <p:nvPr/>
        </p:nvSpPr>
        <p:spPr>
          <a:xfrm>
            <a:off x="399822" y="622009"/>
            <a:ext cx="55713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1" dirty="0"/>
              <a:t>SA </a:t>
            </a:r>
          </a:p>
          <a:p>
            <a:endParaRPr lang="en-CH" dirty="0"/>
          </a:p>
          <a:p>
            <a:pPr marL="285750" indent="-285750">
              <a:buFontTx/>
              <a:buChar char="-"/>
            </a:pPr>
            <a:r>
              <a:rPr lang="de-DE" dirty="0"/>
              <a:t>Lesen Sie das gesamte Kapitel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en-CH" dirty="0"/>
              <a:t>Lösen &amp; korrigieren Sie:</a:t>
            </a:r>
            <a:r>
              <a:rPr lang="de-DE" dirty="0"/>
              <a:t> restliche Übungen</a:t>
            </a:r>
          </a:p>
          <a:p>
            <a:pPr marL="742950" lvl="1" indent="-285750">
              <a:buFontTx/>
              <a:buChar char="-"/>
            </a:pPr>
            <a:endParaRPr lang="en-CH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848B34B-9643-392E-904A-D9E828E00587}"/>
              </a:ext>
            </a:extLst>
          </p:cNvPr>
          <p:cNvSpPr txBox="1"/>
          <p:nvPr/>
        </p:nvSpPr>
        <p:spPr>
          <a:xfrm>
            <a:off x="506148" y="2592738"/>
            <a:ext cx="26304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Lieber im Unterricht</a:t>
            </a:r>
          </a:p>
          <a:p>
            <a:pPr lvl="0"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 </a:t>
            </a:r>
          </a:p>
          <a:p>
            <a:pPr marL="742950" lvl="1" indent="-285750">
              <a:buFontTx/>
              <a:buChar char="-"/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Übung 13</a:t>
            </a:r>
          </a:p>
          <a:p>
            <a:pPr marL="742950" lvl="1" indent="-285750">
              <a:buFontTx/>
              <a:buChar char="-"/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Übung 15</a:t>
            </a:r>
          </a:p>
          <a:p>
            <a:pPr marL="742950" lvl="1" indent="-285750">
              <a:buFontTx/>
              <a:buChar char="-"/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Übung 16</a:t>
            </a:r>
          </a:p>
          <a:p>
            <a:pPr marL="742950" lvl="1" indent="-285750">
              <a:buFontTx/>
              <a:buChar char="-"/>
              <a:defRPr/>
            </a:pPr>
            <a:endParaRPr lang="de-DE" dirty="0">
              <a:solidFill>
                <a:prstClr val="black"/>
              </a:solidFill>
              <a:latin typeface="Google Sans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86DE3F4-9E8F-4626-0D06-82FA23769C24}"/>
              </a:ext>
            </a:extLst>
          </p:cNvPr>
          <p:cNvSpPr txBox="1"/>
          <p:nvPr/>
        </p:nvSpPr>
        <p:spPr>
          <a:xfrm>
            <a:off x="4780771" y="2592738"/>
            <a:ext cx="44642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Gut zu Hause</a:t>
            </a:r>
          </a:p>
          <a:p>
            <a:pPr lvl="0"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 </a:t>
            </a:r>
          </a:p>
          <a:p>
            <a:pPr marL="742950" lvl="1" indent="-285750">
              <a:buFontTx/>
              <a:buChar char="-"/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Übung 5 (Aktien)</a:t>
            </a:r>
          </a:p>
          <a:p>
            <a:pPr marL="742950" lvl="1" indent="-285750">
              <a:buFontTx/>
              <a:buChar char="-"/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Übung 6 (Obligationen)</a:t>
            </a:r>
          </a:p>
          <a:p>
            <a:pPr marL="742950" lvl="1" indent="-285750">
              <a:buFontTx/>
              <a:buChar char="-"/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Übung 7</a:t>
            </a:r>
          </a:p>
          <a:p>
            <a:pPr marL="742950" lvl="1" indent="-285750">
              <a:buFontTx/>
              <a:buChar char="-"/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Übung 13 (Aktien Rendite)</a:t>
            </a:r>
          </a:p>
          <a:p>
            <a:pPr marL="742950" lvl="1" indent="-285750">
              <a:buFontTx/>
              <a:buChar char="-"/>
              <a:defRPr/>
            </a:pPr>
            <a:r>
              <a:rPr lang="de-DE" dirty="0">
                <a:solidFill>
                  <a:prstClr val="black"/>
                </a:solidFill>
                <a:latin typeface="Google Sans"/>
              </a:rPr>
              <a:t>Übung 14 (Obligationen Buchen &amp; Rendite)</a:t>
            </a:r>
          </a:p>
        </p:txBody>
      </p:sp>
    </p:spTree>
    <p:extLst>
      <p:ext uri="{BB962C8B-B14F-4D97-AF65-F5344CB8AC3E}">
        <p14:creationId xmlns:p14="http://schemas.microsoft.com/office/powerpoint/2010/main" val="32234942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C0EFFF37A1D7B479AC8EE41A5AB5923" ma:contentTypeVersion="6" ma:contentTypeDescription="Ein neues Dokument erstellen." ma:contentTypeScope="" ma:versionID="ba5ecf91043d94d16770d808302b9b9a">
  <xsd:schema xmlns:xsd="http://www.w3.org/2001/XMLSchema" xmlns:xs="http://www.w3.org/2001/XMLSchema" xmlns:p="http://schemas.microsoft.com/office/2006/metadata/properties" xmlns:ns2="dc1295c1-6a50-4220-8ab4-275fc215885a" xmlns:ns3="5591d1d6-9c63-43f1-ba14-fd8b8c289f56" targetNamespace="http://schemas.microsoft.com/office/2006/metadata/properties" ma:root="true" ma:fieldsID="239f2cb6d869b41f8b3261a6a4bcad9c" ns2:_="" ns3:_="">
    <xsd:import namespace="dc1295c1-6a50-4220-8ab4-275fc215885a"/>
    <xsd:import namespace="5591d1d6-9c63-43f1-ba14-fd8b8c289f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1295c1-6a50-4220-8ab4-275fc21588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91d1d6-9c63-43f1-ba14-fd8b8c289f5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6C3C7D-9B5B-495E-B447-EC0F0EAD5B32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dc1295c1-6a50-4220-8ab4-275fc215885a"/>
    <ds:schemaRef ds:uri="http://schemas.microsoft.com/office/infopath/2007/PartnerControls"/>
    <ds:schemaRef ds:uri="http://schemas.openxmlformats.org/package/2006/metadata/core-properties"/>
    <ds:schemaRef ds:uri="5591d1d6-9c63-43f1-ba14-fd8b8c289f5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A515EA1-0A76-4CED-B1D6-C16C6CBF3E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DEED7B-26BE-41E7-8E64-BB47AE46D8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1295c1-6a50-4220-8ab4-275fc215885a"/>
    <ds:schemaRef ds:uri="5591d1d6-9c63-43f1-ba14-fd8b8c289f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Dividende</Template>
  <TotalTime>0</TotalTime>
  <Words>1440</Words>
  <Application>Microsoft Office PowerPoint</Application>
  <PresentationFormat>Breitbild</PresentationFormat>
  <Paragraphs>355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9" baseType="lpstr">
      <vt:lpstr>Arial</vt:lpstr>
      <vt:lpstr>Calibri</vt:lpstr>
      <vt:lpstr>Cambria Math</vt:lpstr>
      <vt:lpstr>Gill Sans MT</vt:lpstr>
      <vt:lpstr>Google Sans</vt:lpstr>
      <vt:lpstr>Times New Roman</vt:lpstr>
      <vt:lpstr>Wingdings</vt:lpstr>
      <vt:lpstr>Wingdings 2</vt:lpstr>
      <vt:lpstr>Dividende</vt:lpstr>
      <vt:lpstr> Kapitel 16  Wertschriften</vt:lpstr>
      <vt:lpstr>Lernziele Kap 16 Prüfung 30.10. (Fr.) mit Kap 17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Kapitel: Grundlagen Marketing</dc:title>
  <dc:creator>Lyner,  Sara (BZZ)</dc:creator>
  <cp:lastModifiedBy>Lyner,  Sara (BZZ)</cp:lastModifiedBy>
  <cp:revision>192</cp:revision>
  <cp:lastPrinted>2023-09-28T06:49:36Z</cp:lastPrinted>
  <dcterms:created xsi:type="dcterms:W3CDTF">2019-11-07T10:43:03Z</dcterms:created>
  <dcterms:modified xsi:type="dcterms:W3CDTF">2026-09-18T08:57:35Z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0x010100FC0EFFF37A1D7B479AC8EE41A5AB5923</vt:lpwstr>
  </property>
</Properties>
</file>